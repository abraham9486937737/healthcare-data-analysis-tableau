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8" r:id="rId3"/>
    <p:sldId id="257" r:id="rId4"/>
    <p:sldId id="259" r:id="rId5"/>
    <p:sldId id="260" r:id="rId6"/>
    <p:sldId id="261" r:id="rId7"/>
    <p:sldId id="262" r:id="rId8"/>
    <p:sldId id="264" r:id="rId9"/>
    <p:sldId id="265" r:id="rId10"/>
    <p:sldId id="263" r:id="rId11"/>
    <p:sldId id="266" r:id="rId12"/>
    <p:sldId id="267" r:id="rId13"/>
    <p:sldId id="268" r:id="rId14"/>
  </p:sldIdLst>
  <p:sldSz cx="9144000" cy="5143500" type="screen16x9"/>
  <p:notesSz cx="6858000" cy="9144000"/>
  <p:embeddedFontLst>
    <p:embeddedFont>
      <p:font typeface="Open Sans" panose="020B0606030504020204" pitchFamily="34" charset="0"/>
      <p:regular r:id="rId16"/>
      <p:bold r:id="rId17"/>
      <p:italic r:id="rId18"/>
      <p:boldItalic r:id="rId19"/>
    </p:embeddedFont>
    <p:embeddedFont>
      <p:font typeface="PT Sans Narrow" panose="020B0506020203020204" pitchFamily="34"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4c93a889e9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4c93a889e9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4c93a889e9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4c93a889e9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4c93a889e9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c93a889e9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DBF49D9E-23BF-B32E-95E1-0A0B16084FF5}"/>
            </a:ext>
          </a:extLst>
        </p:cNvPr>
        <p:cNvGrpSpPr/>
        <p:nvPr/>
      </p:nvGrpSpPr>
      <p:grpSpPr>
        <a:xfrm>
          <a:off x="0" y="0"/>
          <a:ext cx="0" cy="0"/>
          <a:chOff x="0" y="0"/>
          <a:chExt cx="0" cy="0"/>
        </a:xfrm>
      </p:grpSpPr>
      <p:sp>
        <p:nvSpPr>
          <p:cNvPr id="82" name="Google Shape;82;g34c93a889e9_0_186:notes">
            <a:extLst>
              <a:ext uri="{FF2B5EF4-FFF2-40B4-BE49-F238E27FC236}">
                <a16:creationId xmlns:a16="http://schemas.microsoft.com/office/drawing/2014/main" id="{0E904809-A337-6EB7-4335-FCA94FC89C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c93a889e9_0_186:notes">
            <a:extLst>
              <a:ext uri="{FF2B5EF4-FFF2-40B4-BE49-F238E27FC236}">
                <a16:creationId xmlns:a16="http://schemas.microsoft.com/office/drawing/2014/main" id="{2FCE6D7A-C93C-F718-641B-4723E479AA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2675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46FF158C-30BD-C379-6704-15FAC6BB7D45}"/>
            </a:ext>
          </a:extLst>
        </p:cNvPr>
        <p:cNvGrpSpPr/>
        <p:nvPr/>
      </p:nvGrpSpPr>
      <p:grpSpPr>
        <a:xfrm>
          <a:off x="0" y="0"/>
          <a:ext cx="0" cy="0"/>
          <a:chOff x="0" y="0"/>
          <a:chExt cx="0" cy="0"/>
        </a:xfrm>
      </p:grpSpPr>
      <p:sp>
        <p:nvSpPr>
          <p:cNvPr id="82" name="Google Shape;82;g34c93a889e9_0_186:notes">
            <a:extLst>
              <a:ext uri="{FF2B5EF4-FFF2-40B4-BE49-F238E27FC236}">
                <a16:creationId xmlns:a16="http://schemas.microsoft.com/office/drawing/2014/main" id="{88661058-5D43-603F-C125-14482F45E2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c93a889e9_0_186:notes">
            <a:extLst>
              <a:ext uri="{FF2B5EF4-FFF2-40B4-BE49-F238E27FC236}">
                <a16:creationId xmlns:a16="http://schemas.microsoft.com/office/drawing/2014/main" id="{D2BF8AF8-CC50-E51F-C329-27543E6BD0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8997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D5C0B7E9-9866-E6A1-F43D-96F1FB1ED5D7}"/>
            </a:ext>
          </a:extLst>
        </p:cNvPr>
        <p:cNvGrpSpPr/>
        <p:nvPr/>
      </p:nvGrpSpPr>
      <p:grpSpPr>
        <a:xfrm>
          <a:off x="0" y="0"/>
          <a:ext cx="0" cy="0"/>
          <a:chOff x="0" y="0"/>
          <a:chExt cx="0" cy="0"/>
        </a:xfrm>
      </p:grpSpPr>
      <p:sp>
        <p:nvSpPr>
          <p:cNvPr id="82" name="Google Shape;82;g34c93a889e9_0_186:notes">
            <a:extLst>
              <a:ext uri="{FF2B5EF4-FFF2-40B4-BE49-F238E27FC236}">
                <a16:creationId xmlns:a16="http://schemas.microsoft.com/office/drawing/2014/main" id="{0FFCAD59-D8E1-DDBF-6959-7558A46250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c93a889e9_0_186:notes">
            <a:extLst>
              <a:ext uri="{FF2B5EF4-FFF2-40B4-BE49-F238E27FC236}">
                <a16:creationId xmlns:a16="http://schemas.microsoft.com/office/drawing/2014/main" id="{44775EC0-DE91-5DF9-6C73-28FA204D52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4616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4B805644-C426-A54D-B5FF-6819CFD216B8}"/>
            </a:ext>
          </a:extLst>
        </p:cNvPr>
        <p:cNvGrpSpPr/>
        <p:nvPr/>
      </p:nvGrpSpPr>
      <p:grpSpPr>
        <a:xfrm>
          <a:off x="0" y="0"/>
          <a:ext cx="0" cy="0"/>
          <a:chOff x="0" y="0"/>
          <a:chExt cx="0" cy="0"/>
        </a:xfrm>
      </p:grpSpPr>
      <p:sp>
        <p:nvSpPr>
          <p:cNvPr id="82" name="Google Shape;82;g34c93a889e9_0_186:notes">
            <a:extLst>
              <a:ext uri="{FF2B5EF4-FFF2-40B4-BE49-F238E27FC236}">
                <a16:creationId xmlns:a16="http://schemas.microsoft.com/office/drawing/2014/main" id="{D961C836-06E7-431B-930A-2D7AD4F998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c93a889e9_0_186:notes">
            <a:extLst>
              <a:ext uri="{FF2B5EF4-FFF2-40B4-BE49-F238E27FC236}">
                <a16:creationId xmlns:a16="http://schemas.microsoft.com/office/drawing/2014/main" id="{A1D0518B-DEE8-CD40-E288-27BC1AFCF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4765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C8DE9E64-CFDD-D16C-5B4A-D83C99DC8742}"/>
            </a:ext>
          </a:extLst>
        </p:cNvPr>
        <p:cNvGrpSpPr/>
        <p:nvPr/>
      </p:nvGrpSpPr>
      <p:grpSpPr>
        <a:xfrm>
          <a:off x="0" y="0"/>
          <a:ext cx="0" cy="0"/>
          <a:chOff x="0" y="0"/>
          <a:chExt cx="0" cy="0"/>
        </a:xfrm>
      </p:grpSpPr>
      <p:sp>
        <p:nvSpPr>
          <p:cNvPr id="82" name="Google Shape;82;g34c93a889e9_0_186:notes">
            <a:extLst>
              <a:ext uri="{FF2B5EF4-FFF2-40B4-BE49-F238E27FC236}">
                <a16:creationId xmlns:a16="http://schemas.microsoft.com/office/drawing/2014/main" id="{179B898F-F459-30AF-1CE5-99D1D76225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c93a889e9_0_186:notes">
            <a:extLst>
              <a:ext uri="{FF2B5EF4-FFF2-40B4-BE49-F238E27FC236}">
                <a16:creationId xmlns:a16="http://schemas.microsoft.com/office/drawing/2014/main" id="{42A74952-26DC-A612-1615-A2E5B03116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19836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19622C39-CE34-BDA4-694C-874C2352B6CB}"/>
            </a:ext>
          </a:extLst>
        </p:cNvPr>
        <p:cNvGrpSpPr/>
        <p:nvPr/>
      </p:nvGrpSpPr>
      <p:grpSpPr>
        <a:xfrm>
          <a:off x="0" y="0"/>
          <a:ext cx="0" cy="0"/>
          <a:chOff x="0" y="0"/>
          <a:chExt cx="0" cy="0"/>
        </a:xfrm>
      </p:grpSpPr>
      <p:sp>
        <p:nvSpPr>
          <p:cNvPr id="82" name="Google Shape;82;g34c93a889e9_0_186:notes">
            <a:extLst>
              <a:ext uri="{FF2B5EF4-FFF2-40B4-BE49-F238E27FC236}">
                <a16:creationId xmlns:a16="http://schemas.microsoft.com/office/drawing/2014/main" id="{2D8B83AD-FF42-B063-C1F0-D4C189E6A1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c93a889e9_0_186:notes">
            <a:extLst>
              <a:ext uri="{FF2B5EF4-FFF2-40B4-BE49-F238E27FC236}">
                <a16:creationId xmlns:a16="http://schemas.microsoft.com/office/drawing/2014/main" id="{EC7B00A8-094E-3EE1-067E-0A2DB35EA8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8145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7516ED16-FD77-7CE9-1434-31C227412461}"/>
            </a:ext>
          </a:extLst>
        </p:cNvPr>
        <p:cNvGrpSpPr/>
        <p:nvPr/>
      </p:nvGrpSpPr>
      <p:grpSpPr>
        <a:xfrm>
          <a:off x="0" y="0"/>
          <a:ext cx="0" cy="0"/>
          <a:chOff x="0" y="0"/>
          <a:chExt cx="0" cy="0"/>
        </a:xfrm>
      </p:grpSpPr>
      <p:sp>
        <p:nvSpPr>
          <p:cNvPr id="82" name="Google Shape;82;g34c93a889e9_0_186:notes">
            <a:extLst>
              <a:ext uri="{FF2B5EF4-FFF2-40B4-BE49-F238E27FC236}">
                <a16:creationId xmlns:a16="http://schemas.microsoft.com/office/drawing/2014/main" id="{B6C49939-F33B-CFD4-1DBF-8D3C5F9782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c93a889e9_0_186:notes">
            <a:extLst>
              <a:ext uri="{FF2B5EF4-FFF2-40B4-BE49-F238E27FC236}">
                <a16:creationId xmlns:a16="http://schemas.microsoft.com/office/drawing/2014/main" id="{1CE2A2EE-4962-E9DC-47C7-C1A209E3D2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1739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686808B3-1311-2286-A983-D40B67ACCDE5}"/>
            </a:ext>
          </a:extLst>
        </p:cNvPr>
        <p:cNvGrpSpPr/>
        <p:nvPr/>
      </p:nvGrpSpPr>
      <p:grpSpPr>
        <a:xfrm>
          <a:off x="0" y="0"/>
          <a:ext cx="0" cy="0"/>
          <a:chOff x="0" y="0"/>
          <a:chExt cx="0" cy="0"/>
        </a:xfrm>
      </p:grpSpPr>
      <p:sp>
        <p:nvSpPr>
          <p:cNvPr id="82" name="Google Shape;82;g34c93a889e9_0_186:notes">
            <a:extLst>
              <a:ext uri="{FF2B5EF4-FFF2-40B4-BE49-F238E27FC236}">
                <a16:creationId xmlns:a16="http://schemas.microsoft.com/office/drawing/2014/main" id="{849EEED3-EBE2-F587-6AA0-989FACE866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c93a889e9_0_186:notes">
            <a:extLst>
              <a:ext uri="{FF2B5EF4-FFF2-40B4-BE49-F238E27FC236}">
                <a16:creationId xmlns:a16="http://schemas.microsoft.com/office/drawing/2014/main" id="{25B48181-F67C-296E-8616-BAA85A27EA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968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4AC382AE-B15A-8B0E-BB3B-B99AE2099543}"/>
            </a:ext>
          </a:extLst>
        </p:cNvPr>
        <p:cNvGrpSpPr/>
        <p:nvPr/>
      </p:nvGrpSpPr>
      <p:grpSpPr>
        <a:xfrm>
          <a:off x="0" y="0"/>
          <a:ext cx="0" cy="0"/>
          <a:chOff x="0" y="0"/>
          <a:chExt cx="0" cy="0"/>
        </a:xfrm>
      </p:grpSpPr>
      <p:sp>
        <p:nvSpPr>
          <p:cNvPr id="82" name="Google Shape;82;g34c93a889e9_0_186:notes">
            <a:extLst>
              <a:ext uri="{FF2B5EF4-FFF2-40B4-BE49-F238E27FC236}">
                <a16:creationId xmlns:a16="http://schemas.microsoft.com/office/drawing/2014/main" id="{4665CB9B-B04B-EDED-8293-FFF18B5767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c93a889e9_0_186:notes">
            <a:extLst>
              <a:ext uri="{FF2B5EF4-FFF2-40B4-BE49-F238E27FC236}">
                <a16:creationId xmlns:a16="http://schemas.microsoft.com/office/drawing/2014/main" id="{A8BF74F6-4A9A-9D27-DACD-91C505F0E9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7842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25" y="1353014"/>
            <a:ext cx="7136700" cy="554235"/>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3200" dirty="0">
                <a:solidFill>
                  <a:schemeClr val="accent4">
                    <a:lumMod val="75000"/>
                  </a:schemeClr>
                </a:solidFill>
              </a:rPr>
              <a:t>Healthcare Data Analysis Using Excel and Tableau</a:t>
            </a:r>
            <a:endParaRPr sz="3200" dirty="0">
              <a:solidFill>
                <a:schemeClr val="accent4">
                  <a:lumMod val="75000"/>
                </a:schemeClr>
              </a:solidFill>
            </a:endParaRPr>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15000"/>
              </a:lnSpc>
              <a:spcBef>
                <a:spcPts val="1200"/>
              </a:spcBef>
              <a:spcAft>
                <a:spcPts val="0"/>
              </a:spcAft>
              <a:buNone/>
            </a:pPr>
            <a:r>
              <a:rPr lang="en" sz="8073" dirty="0"/>
              <a:t>A Comprehensive Study on Patient Demographics, Diagnostics &amp; Billing</a:t>
            </a:r>
            <a:endParaRPr sz="8073" dirty="0"/>
          </a:p>
          <a:p>
            <a:pPr marL="0" lvl="0" indent="0" algn="ctr" rtl="0">
              <a:spcBef>
                <a:spcPts val="1200"/>
              </a:spcBef>
              <a:spcAft>
                <a:spcPts val="0"/>
              </a:spcAft>
              <a:buNone/>
            </a:pPr>
            <a:endParaRPr dirty="0"/>
          </a:p>
        </p:txBody>
      </p:sp>
      <p:sp>
        <p:nvSpPr>
          <p:cNvPr id="68" name="Google Shape;68;p13"/>
          <p:cNvSpPr txBox="1">
            <a:spLocks noGrp="1"/>
          </p:cNvSpPr>
          <p:nvPr>
            <p:ph type="body" idx="4294967295"/>
          </p:nvPr>
        </p:nvSpPr>
        <p:spPr>
          <a:xfrm>
            <a:off x="1004025" y="4160375"/>
            <a:ext cx="7136700" cy="900600"/>
          </a:xfrm>
          <a:prstGeom prst="rect">
            <a:avLst/>
          </a:prstGeom>
        </p:spPr>
        <p:txBody>
          <a:bodyPr spcFirstLastPara="1" wrap="square" lIns="91425" tIns="91425" rIns="91425" bIns="91425" anchor="t" anchorCtr="0">
            <a:normAutofit fontScale="25000" lnSpcReduction="20000"/>
          </a:bodyPr>
          <a:lstStyle/>
          <a:p>
            <a:pPr marL="0" lvl="0" indent="0" algn="ctr" rtl="0">
              <a:lnSpc>
                <a:spcPct val="100000"/>
              </a:lnSpc>
              <a:spcBef>
                <a:spcPts val="1200"/>
              </a:spcBef>
              <a:spcAft>
                <a:spcPts val="0"/>
              </a:spcAft>
              <a:buNone/>
            </a:pPr>
            <a:r>
              <a:rPr lang="en" sz="5560" b="1" dirty="0">
                <a:solidFill>
                  <a:schemeClr val="accent4">
                    <a:lumMod val="75000"/>
                  </a:schemeClr>
                </a:solidFill>
                <a:latin typeface="Arial"/>
                <a:ea typeface="Arial"/>
                <a:cs typeface="Arial"/>
                <a:sym typeface="Arial"/>
              </a:rPr>
              <a:t>Presented by:</a:t>
            </a:r>
            <a:r>
              <a:rPr lang="en" sz="5560" dirty="0">
                <a:solidFill>
                  <a:schemeClr val="accent4">
                    <a:lumMod val="75000"/>
                  </a:schemeClr>
                </a:solidFill>
                <a:latin typeface="Arial"/>
                <a:ea typeface="Arial"/>
                <a:cs typeface="Arial"/>
                <a:sym typeface="Arial"/>
              </a:rPr>
              <a:t> Abraham PonnuRaj</a:t>
            </a:r>
            <a:endParaRPr sz="5560" dirty="0">
              <a:solidFill>
                <a:schemeClr val="accent4">
                  <a:lumMod val="75000"/>
                </a:schemeClr>
              </a:solidFill>
              <a:latin typeface="Arial"/>
              <a:ea typeface="Arial"/>
              <a:cs typeface="Arial"/>
              <a:sym typeface="Arial"/>
            </a:endParaRPr>
          </a:p>
          <a:p>
            <a:pPr marL="0" lvl="0" indent="0" algn="ctr" rtl="0">
              <a:lnSpc>
                <a:spcPct val="100000"/>
              </a:lnSpc>
              <a:spcBef>
                <a:spcPts val="1200"/>
              </a:spcBef>
              <a:spcAft>
                <a:spcPts val="0"/>
              </a:spcAft>
              <a:buNone/>
            </a:pPr>
            <a:r>
              <a:rPr lang="en" sz="5560" b="1" dirty="0">
                <a:solidFill>
                  <a:schemeClr val="accent4">
                    <a:lumMod val="75000"/>
                  </a:schemeClr>
                </a:solidFill>
                <a:latin typeface="Arial"/>
                <a:ea typeface="Arial"/>
                <a:cs typeface="Arial"/>
                <a:sym typeface="Arial"/>
              </a:rPr>
              <a:t>Date:</a:t>
            </a:r>
            <a:r>
              <a:rPr lang="en" sz="5560" dirty="0">
                <a:solidFill>
                  <a:schemeClr val="accent4">
                    <a:lumMod val="75000"/>
                  </a:schemeClr>
                </a:solidFill>
                <a:latin typeface="Arial"/>
                <a:ea typeface="Arial"/>
                <a:cs typeface="Arial"/>
                <a:sym typeface="Arial"/>
              </a:rPr>
              <a:t> 13-05-2025</a:t>
            </a:r>
            <a:br>
              <a:rPr lang="en" sz="5560" dirty="0">
                <a:solidFill>
                  <a:schemeClr val="accent4">
                    <a:lumMod val="75000"/>
                  </a:schemeClr>
                </a:solidFill>
                <a:latin typeface="Arial"/>
                <a:ea typeface="Arial"/>
                <a:cs typeface="Arial"/>
                <a:sym typeface="Arial"/>
              </a:rPr>
            </a:br>
            <a:r>
              <a:rPr lang="en" sz="5560" b="1" dirty="0">
                <a:solidFill>
                  <a:schemeClr val="accent4">
                    <a:lumMod val="75000"/>
                  </a:schemeClr>
                </a:solidFill>
                <a:latin typeface="Arial"/>
                <a:ea typeface="Arial"/>
                <a:cs typeface="Arial"/>
                <a:sym typeface="Arial"/>
              </a:rPr>
              <a:t>Course:</a:t>
            </a:r>
            <a:r>
              <a:rPr lang="en" sz="5560" dirty="0">
                <a:solidFill>
                  <a:schemeClr val="accent4">
                    <a:lumMod val="75000"/>
                  </a:schemeClr>
                </a:solidFill>
                <a:latin typeface="Arial"/>
                <a:ea typeface="Arial"/>
                <a:cs typeface="Arial"/>
                <a:sym typeface="Arial"/>
              </a:rPr>
              <a:t> Data Analytics &amp; Data Science, KGiSL Micro College</a:t>
            </a:r>
            <a:endParaRPr sz="5560" dirty="0">
              <a:solidFill>
                <a:schemeClr val="accent4">
                  <a:lumMod val="75000"/>
                </a:schemeClr>
              </a:solidFill>
              <a:latin typeface="Arial"/>
              <a:ea typeface="Arial"/>
              <a:cs typeface="Arial"/>
              <a:sym typeface="Arial"/>
            </a:endParaRPr>
          </a:p>
          <a:p>
            <a:pPr marL="0" lvl="0" indent="0" algn="ctr" rtl="0">
              <a:lnSpc>
                <a:spcPct val="100000"/>
              </a:lnSpc>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363739" y="192264"/>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3550" dirty="0">
                <a:solidFill>
                  <a:schemeClr val="accent4">
                    <a:lumMod val="75000"/>
                  </a:schemeClr>
                </a:solidFill>
                <a:latin typeface="Arial"/>
                <a:ea typeface="Arial"/>
                <a:cs typeface="Arial"/>
                <a:sym typeface="Arial"/>
              </a:rPr>
              <a:t>Dataset Description</a:t>
            </a:r>
            <a:endParaRPr sz="3550" dirty="0">
              <a:solidFill>
                <a:schemeClr val="accent4">
                  <a:lumMod val="75000"/>
                </a:schemeClr>
              </a:solidFill>
              <a:latin typeface="Arial"/>
              <a:ea typeface="Arial"/>
              <a:cs typeface="Arial"/>
              <a:sym typeface="Arial"/>
            </a:endParaRPr>
          </a:p>
          <a:p>
            <a:pPr marL="0" lvl="0" indent="0" algn="l" rtl="0">
              <a:spcBef>
                <a:spcPts val="0"/>
              </a:spcBef>
              <a:spcAft>
                <a:spcPts val="0"/>
              </a:spcAft>
              <a:buNone/>
            </a:pPr>
            <a:endParaRPr dirty="0"/>
          </a:p>
        </p:txBody>
      </p:sp>
      <p:sp>
        <p:nvSpPr>
          <p:cNvPr id="80" name="Google Shape;80;p15"/>
          <p:cNvSpPr txBox="1">
            <a:spLocks noGrp="1"/>
          </p:cNvSpPr>
          <p:nvPr>
            <p:ph type="body" idx="1"/>
          </p:nvPr>
        </p:nvSpPr>
        <p:spPr>
          <a:xfrm>
            <a:off x="104078" y="728546"/>
            <a:ext cx="8728222" cy="3807729"/>
          </a:xfrm>
          <a:prstGeom prst="rect">
            <a:avLst/>
          </a:prstGeom>
        </p:spPr>
        <p:txBody>
          <a:bodyPr spcFirstLastPara="1" wrap="square" lIns="91425" tIns="91425" rIns="91425" bIns="91425" anchor="t" anchorCtr="0">
            <a:noAutofit/>
          </a:bodyPr>
          <a:lstStyle/>
          <a:p>
            <a:pPr marL="742950" indent="-285750">
              <a:lnSpc>
                <a:spcPct val="100000"/>
              </a:lnSpc>
              <a:spcBef>
                <a:spcPts val="1200"/>
              </a:spcBef>
              <a:buFont typeface="Wingdings" panose="05000000000000000000" pitchFamily="2" charset="2"/>
              <a:buChar char="v"/>
            </a:pPr>
            <a:r>
              <a:rPr lang="en-US" dirty="0">
                <a:solidFill>
                  <a:schemeClr val="accent4">
                    <a:lumMod val="75000"/>
                  </a:schemeClr>
                </a:solidFill>
                <a:latin typeface="Arial"/>
                <a:ea typeface="Arial"/>
                <a:cs typeface="Arial"/>
                <a:sym typeface="Arial"/>
              </a:rPr>
              <a:t>Source: The data was created using </a:t>
            </a:r>
            <a:r>
              <a:rPr lang="en-US" dirty="0" err="1">
                <a:solidFill>
                  <a:schemeClr val="accent4">
                    <a:lumMod val="75000"/>
                  </a:schemeClr>
                </a:solidFill>
                <a:latin typeface="Arial"/>
                <a:ea typeface="Arial"/>
                <a:cs typeface="Arial"/>
                <a:sym typeface="Arial"/>
              </a:rPr>
              <a:t>Mockaroo</a:t>
            </a:r>
            <a:r>
              <a:rPr lang="en-US" dirty="0">
                <a:solidFill>
                  <a:schemeClr val="accent4">
                    <a:lumMod val="75000"/>
                  </a:schemeClr>
                </a:solidFill>
                <a:latin typeface="Arial"/>
                <a:ea typeface="Arial"/>
                <a:cs typeface="Arial"/>
                <a:sym typeface="Arial"/>
              </a:rPr>
              <a:t>, a tool for making sample (fake) data.</a:t>
            </a:r>
          </a:p>
          <a:p>
            <a:pPr marL="742950" indent="-285750">
              <a:lnSpc>
                <a:spcPct val="100000"/>
              </a:lnSpc>
              <a:spcBef>
                <a:spcPts val="1200"/>
              </a:spcBef>
              <a:buFont typeface="Wingdings" panose="05000000000000000000" pitchFamily="2" charset="2"/>
              <a:buChar char="v"/>
            </a:pPr>
            <a:r>
              <a:rPr lang="en-US" dirty="0">
                <a:solidFill>
                  <a:schemeClr val="accent4">
                    <a:lumMod val="75000"/>
                  </a:schemeClr>
                </a:solidFill>
                <a:latin typeface="Arial"/>
                <a:ea typeface="Arial"/>
                <a:cs typeface="Arial"/>
                <a:sym typeface="Arial"/>
              </a:rPr>
              <a:t>Key Columns: Patient ID, Gender, Age, Department, Diagnosis, Blood Group, Billing Amount, Length of Stay, and more.</a:t>
            </a:r>
          </a:p>
          <a:p>
            <a:pPr marL="742950" indent="-285750">
              <a:lnSpc>
                <a:spcPct val="100000"/>
              </a:lnSpc>
              <a:spcBef>
                <a:spcPts val="1200"/>
              </a:spcBef>
              <a:buFont typeface="Wingdings" panose="05000000000000000000" pitchFamily="2" charset="2"/>
              <a:buChar char="v"/>
            </a:pPr>
            <a:r>
              <a:rPr lang="en-US" dirty="0">
                <a:solidFill>
                  <a:schemeClr val="accent4">
                    <a:lumMod val="75000"/>
                  </a:schemeClr>
                </a:solidFill>
                <a:latin typeface="Arial"/>
                <a:ea typeface="Arial"/>
                <a:cs typeface="Arial"/>
                <a:sym typeface="Arial"/>
              </a:rPr>
              <a:t>Tools Used:</a:t>
            </a:r>
          </a:p>
          <a:p>
            <a:pPr marL="1200150" lvl="1" indent="-285750">
              <a:lnSpc>
                <a:spcPct val="100000"/>
              </a:lnSpc>
              <a:spcBef>
                <a:spcPts val="1200"/>
              </a:spcBef>
              <a:buFont typeface="Wingdings" panose="05000000000000000000" pitchFamily="2" charset="2"/>
              <a:buChar char="v"/>
            </a:pPr>
            <a:r>
              <a:rPr lang="en-US" dirty="0">
                <a:solidFill>
                  <a:schemeClr val="accent4">
                    <a:lumMod val="75000"/>
                  </a:schemeClr>
                </a:solidFill>
                <a:latin typeface="Arial"/>
                <a:ea typeface="Arial"/>
                <a:cs typeface="Arial"/>
                <a:sym typeface="Arial"/>
              </a:rPr>
              <a:t>Microsoft Excel – Used to clean and prepare the data.</a:t>
            </a:r>
          </a:p>
          <a:p>
            <a:pPr marL="1200150" lvl="1" indent="-285750">
              <a:lnSpc>
                <a:spcPct val="100000"/>
              </a:lnSpc>
              <a:spcBef>
                <a:spcPts val="1200"/>
              </a:spcBef>
              <a:buFont typeface="Wingdings" panose="05000000000000000000" pitchFamily="2" charset="2"/>
              <a:buChar char="v"/>
            </a:pPr>
            <a:r>
              <a:rPr lang="en-US" dirty="0">
                <a:solidFill>
                  <a:schemeClr val="accent4">
                    <a:lumMod val="75000"/>
                  </a:schemeClr>
                </a:solidFill>
                <a:latin typeface="Arial"/>
                <a:ea typeface="Arial"/>
                <a:cs typeface="Arial"/>
                <a:sym typeface="Arial"/>
              </a:rPr>
              <a:t>Tableau – Used to create charts and dashboards.</a:t>
            </a:r>
          </a:p>
          <a:p>
            <a:pPr marL="742950" indent="-285750">
              <a:lnSpc>
                <a:spcPct val="100000"/>
              </a:lnSpc>
              <a:spcBef>
                <a:spcPts val="1200"/>
              </a:spcBef>
              <a:buFont typeface="Wingdings" panose="05000000000000000000" pitchFamily="2" charset="2"/>
              <a:buChar char="v"/>
            </a:pPr>
            <a:r>
              <a:rPr lang="en-US" dirty="0">
                <a:solidFill>
                  <a:schemeClr val="accent4">
                    <a:lumMod val="75000"/>
                  </a:schemeClr>
                </a:solidFill>
                <a:latin typeface="Arial"/>
                <a:ea typeface="Arial"/>
                <a:cs typeface="Arial"/>
                <a:sym typeface="Arial"/>
              </a:rPr>
              <a:t>Purpose: To study and understand patterns in patient care and hospital services using sample data.</a:t>
            </a:r>
            <a:endParaRPr dirty="0">
              <a:solidFill>
                <a:schemeClr val="accent4">
                  <a:lumMod val="7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311700" y="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3550" dirty="0">
                <a:solidFill>
                  <a:schemeClr val="accent4">
                    <a:lumMod val="75000"/>
                  </a:schemeClr>
                </a:solidFill>
                <a:latin typeface="Arial"/>
                <a:ea typeface="Arial"/>
                <a:cs typeface="Arial"/>
                <a:sym typeface="Arial"/>
              </a:rPr>
              <a:t>Project Objective</a:t>
            </a:r>
            <a:endParaRPr sz="3550" dirty="0">
              <a:solidFill>
                <a:schemeClr val="accent4">
                  <a:lumMod val="75000"/>
                </a:schemeClr>
              </a:solidFill>
              <a:latin typeface="Arial"/>
              <a:ea typeface="Arial"/>
              <a:cs typeface="Arial"/>
              <a:sym typeface="Arial"/>
            </a:endParaRPr>
          </a:p>
          <a:p>
            <a:pPr marL="0" lvl="0" indent="0" algn="l" rtl="0">
              <a:spcBef>
                <a:spcPts val="0"/>
              </a:spcBef>
              <a:spcAft>
                <a:spcPts val="0"/>
              </a:spcAft>
              <a:buNone/>
            </a:pPr>
            <a:endParaRPr dirty="0"/>
          </a:p>
        </p:txBody>
      </p:sp>
      <p:sp>
        <p:nvSpPr>
          <p:cNvPr id="74" name="Google Shape;74;p14"/>
          <p:cNvSpPr txBox="1">
            <a:spLocks noGrp="1"/>
          </p:cNvSpPr>
          <p:nvPr>
            <p:ph type="body" idx="1"/>
          </p:nvPr>
        </p:nvSpPr>
        <p:spPr>
          <a:xfrm>
            <a:off x="311700" y="594732"/>
            <a:ext cx="8520600" cy="4252331"/>
          </a:xfrm>
          <a:prstGeom prst="rect">
            <a:avLst/>
          </a:prstGeom>
        </p:spPr>
        <p:txBody>
          <a:bodyPr spcFirstLastPara="1" wrap="square" lIns="91425" tIns="91425" rIns="91425" bIns="91425" anchor="ctr" anchorCtr="0">
            <a:noAutofit/>
          </a:bodyPr>
          <a:lstStyle/>
          <a:p>
            <a:pPr marL="285750" lvl="0" indent="-285750" algn="l" rtl="0">
              <a:lnSpc>
                <a:spcPct val="100000"/>
              </a:lnSpc>
              <a:spcBef>
                <a:spcPts val="1200"/>
              </a:spcBef>
              <a:spcAft>
                <a:spcPts val="1200"/>
              </a:spcAft>
              <a:buFont typeface="Wingdings" panose="05000000000000000000" pitchFamily="2" charset="2"/>
              <a:buChar char="v"/>
            </a:pPr>
            <a:r>
              <a:rPr lang="en-US" dirty="0">
                <a:solidFill>
                  <a:schemeClr val="accent4">
                    <a:lumMod val="75000"/>
                  </a:schemeClr>
                </a:solidFill>
                <a:latin typeface="+mj-lt"/>
              </a:rPr>
              <a:t>To analyze hospital patient data using Excel for cleaning and Tableau for creating charts and dashboards.</a:t>
            </a:r>
          </a:p>
          <a:p>
            <a:pPr marL="285750" lvl="0" indent="-285750" algn="l" rtl="0">
              <a:lnSpc>
                <a:spcPct val="100000"/>
              </a:lnSpc>
              <a:spcBef>
                <a:spcPts val="1200"/>
              </a:spcBef>
              <a:spcAft>
                <a:spcPts val="1200"/>
              </a:spcAft>
              <a:buFont typeface="Wingdings" panose="05000000000000000000" pitchFamily="2" charset="2"/>
              <a:buChar char="v"/>
            </a:pPr>
            <a:r>
              <a:rPr lang="en-US" dirty="0">
                <a:solidFill>
                  <a:schemeClr val="accent4">
                    <a:lumMod val="75000"/>
                  </a:schemeClr>
                </a:solidFill>
                <a:latin typeface="+mj-lt"/>
              </a:rPr>
              <a:t>To understand trends in patient age, gender, and other personal details (demographics).</a:t>
            </a:r>
          </a:p>
          <a:p>
            <a:pPr marL="285750" lvl="0" indent="-285750" algn="l" rtl="0">
              <a:lnSpc>
                <a:spcPct val="100000"/>
              </a:lnSpc>
              <a:spcBef>
                <a:spcPts val="1200"/>
              </a:spcBef>
              <a:spcAft>
                <a:spcPts val="1200"/>
              </a:spcAft>
              <a:buFont typeface="Wingdings" panose="05000000000000000000" pitchFamily="2" charset="2"/>
              <a:buChar char="v"/>
            </a:pPr>
            <a:r>
              <a:rPr lang="en-US" dirty="0">
                <a:solidFill>
                  <a:schemeClr val="accent4">
                    <a:lumMod val="75000"/>
                  </a:schemeClr>
                </a:solidFill>
                <a:latin typeface="+mj-lt"/>
              </a:rPr>
              <a:t>To find out which health problems (diagnoses) are most common among patients.</a:t>
            </a:r>
          </a:p>
          <a:p>
            <a:pPr marL="285750" lvl="0" indent="-285750" algn="l" rtl="0">
              <a:lnSpc>
                <a:spcPct val="100000"/>
              </a:lnSpc>
              <a:spcBef>
                <a:spcPts val="1200"/>
              </a:spcBef>
              <a:spcAft>
                <a:spcPts val="1200"/>
              </a:spcAft>
              <a:buFont typeface="Wingdings" panose="05000000000000000000" pitchFamily="2" charset="2"/>
              <a:buChar char="v"/>
            </a:pPr>
            <a:r>
              <a:rPr lang="en-US" dirty="0">
                <a:solidFill>
                  <a:schemeClr val="accent4">
                    <a:lumMod val="75000"/>
                  </a:schemeClr>
                </a:solidFill>
                <a:latin typeface="+mj-lt"/>
              </a:rPr>
              <a:t>To study hospital billing details like total cost and length of stay.</a:t>
            </a:r>
          </a:p>
          <a:p>
            <a:pPr marL="285750" lvl="0" indent="-285750" algn="l" rtl="0">
              <a:lnSpc>
                <a:spcPct val="100000"/>
              </a:lnSpc>
              <a:spcBef>
                <a:spcPts val="1200"/>
              </a:spcBef>
              <a:spcAft>
                <a:spcPts val="1200"/>
              </a:spcAft>
              <a:buFont typeface="Wingdings" panose="05000000000000000000" pitchFamily="2" charset="2"/>
              <a:buChar char="v"/>
            </a:pPr>
            <a:r>
              <a:rPr lang="en-US" dirty="0">
                <a:solidFill>
                  <a:schemeClr val="accent4">
                    <a:lumMod val="75000"/>
                  </a:schemeClr>
                </a:solidFill>
                <a:latin typeface="+mj-lt"/>
              </a:rPr>
              <a:t>To show all the findings visually using charts, so it's easy to understand and useful for making better decisions in healthcare.</a:t>
            </a:r>
            <a:endParaRPr dirty="0">
              <a:solidFill>
                <a:schemeClr val="accent4">
                  <a:lumMod val="75000"/>
                </a:schemeClr>
              </a:solidFill>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00" y="0"/>
            <a:ext cx="8520600" cy="7206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 dirty="0">
                <a:solidFill>
                  <a:schemeClr val="accent4">
                    <a:lumMod val="75000"/>
                  </a:schemeClr>
                </a:solidFill>
                <a:latin typeface="Arial"/>
                <a:ea typeface="Arial"/>
                <a:cs typeface="Arial"/>
                <a:sym typeface="Arial"/>
              </a:rPr>
              <a:t>Gender-Based Patient Distribution</a:t>
            </a:r>
            <a:endParaRPr dirty="0">
              <a:solidFill>
                <a:schemeClr val="accent4">
                  <a:lumMod val="75000"/>
                </a:schemeClr>
              </a:solidFill>
              <a:latin typeface="Arial"/>
              <a:ea typeface="Arial"/>
              <a:cs typeface="Arial"/>
              <a:sym typeface="Arial"/>
            </a:endParaRPr>
          </a:p>
          <a:p>
            <a:pPr marL="0" lvl="0" indent="0" algn="l" rtl="0">
              <a:spcBef>
                <a:spcPts val="1200"/>
              </a:spcBef>
              <a:spcAft>
                <a:spcPts val="0"/>
              </a:spcAft>
              <a:buNone/>
            </a:pPr>
            <a:endParaRPr sz="3550" dirty="0">
              <a:latin typeface="Arial"/>
              <a:ea typeface="Arial"/>
              <a:cs typeface="Arial"/>
              <a:sym typeface="Arial"/>
            </a:endParaRPr>
          </a:p>
          <a:p>
            <a:pPr marL="0" lvl="0" indent="0" algn="l" rtl="0">
              <a:spcBef>
                <a:spcPts val="0"/>
              </a:spcBef>
              <a:spcAft>
                <a:spcPts val="0"/>
              </a:spcAft>
              <a:buNone/>
            </a:pPr>
            <a:endParaRPr dirty="0"/>
          </a:p>
        </p:txBody>
      </p:sp>
      <p:sp>
        <p:nvSpPr>
          <p:cNvPr id="86" name="Google Shape;86;p16"/>
          <p:cNvSpPr txBox="1">
            <a:spLocks noGrp="1"/>
          </p:cNvSpPr>
          <p:nvPr>
            <p:ph type="body" idx="1"/>
          </p:nvPr>
        </p:nvSpPr>
        <p:spPr>
          <a:xfrm>
            <a:off x="311700" y="1583473"/>
            <a:ext cx="3717649" cy="3003395"/>
          </a:xfrm>
          <a:prstGeom prst="rect">
            <a:avLst/>
          </a:prstGeom>
        </p:spPr>
        <p:txBody>
          <a:bodyPr spcFirstLastPara="1" wrap="square" lIns="91425" tIns="91425" rIns="91425" bIns="91425" anchor="ctr" anchorCtr="0">
            <a:noAutofit/>
          </a:bodyPr>
          <a:lstStyle/>
          <a:p>
            <a:pPr marL="115546" lvl="0" indent="0" algn="just" rtl="0">
              <a:lnSpc>
                <a:spcPct val="115000"/>
              </a:lnSpc>
              <a:spcBef>
                <a:spcPts val="1200"/>
              </a:spcBef>
              <a:spcAft>
                <a:spcPts val="0"/>
              </a:spcAft>
              <a:buClr>
                <a:srgbClr val="B45F06"/>
              </a:buClr>
              <a:buSzPts val="1780"/>
              <a:buNone/>
            </a:pPr>
            <a:r>
              <a:rPr lang="en-US" sz="1200" dirty="0">
                <a:solidFill>
                  <a:schemeClr val="accent4">
                    <a:lumMod val="75000"/>
                  </a:schemeClr>
                </a:solidFill>
                <a:latin typeface="+mj-lt"/>
              </a:rPr>
              <a:t>🧩 </a:t>
            </a:r>
            <a:r>
              <a:rPr lang="en-US" sz="1200" b="1" dirty="0">
                <a:solidFill>
                  <a:schemeClr val="accent4">
                    <a:lumMod val="75000"/>
                  </a:schemeClr>
                </a:solidFill>
                <a:latin typeface="+mj-lt"/>
              </a:rPr>
              <a:t>Chart Type: Tree Map</a:t>
            </a:r>
          </a:p>
          <a:p>
            <a:pPr marL="115546" lvl="0" indent="0" algn="just" rtl="0">
              <a:lnSpc>
                <a:spcPct val="115000"/>
              </a:lnSpc>
              <a:spcBef>
                <a:spcPts val="1200"/>
              </a:spcBef>
              <a:spcAft>
                <a:spcPts val="0"/>
              </a:spcAft>
              <a:buClr>
                <a:srgbClr val="B45F06"/>
              </a:buClr>
              <a:buSzPts val="1780"/>
              <a:buNone/>
            </a:pPr>
            <a:r>
              <a:rPr lang="en-US" sz="1200" b="1" dirty="0">
                <a:solidFill>
                  <a:schemeClr val="accent4">
                    <a:lumMod val="75000"/>
                  </a:schemeClr>
                </a:solidFill>
                <a:latin typeface="+mj-lt"/>
              </a:rPr>
              <a:t> What it Shows:</a:t>
            </a:r>
          </a:p>
          <a:p>
            <a:pPr algn="just">
              <a:buFont typeface="Arial" panose="020B0604020202020204" pitchFamily="34" charset="0"/>
              <a:buChar char="•"/>
            </a:pPr>
            <a:r>
              <a:rPr lang="en-US" sz="1200" dirty="0">
                <a:solidFill>
                  <a:schemeClr val="accent4">
                    <a:lumMod val="75000"/>
                  </a:schemeClr>
                </a:solidFill>
                <a:latin typeface="+mj-lt"/>
              </a:rPr>
              <a:t>Each </a:t>
            </a:r>
            <a:r>
              <a:rPr lang="en-US" sz="1200" b="1" dirty="0">
                <a:solidFill>
                  <a:schemeClr val="accent4">
                    <a:lumMod val="75000"/>
                  </a:schemeClr>
                </a:solidFill>
                <a:latin typeface="+mj-lt"/>
              </a:rPr>
              <a:t>rectangle</a:t>
            </a:r>
            <a:r>
              <a:rPr lang="en-US" sz="1200" dirty="0">
                <a:solidFill>
                  <a:schemeClr val="accent4">
                    <a:lumMod val="75000"/>
                  </a:schemeClr>
                </a:solidFill>
                <a:latin typeface="+mj-lt"/>
              </a:rPr>
              <a:t> represents a </a:t>
            </a:r>
            <a:r>
              <a:rPr lang="en-US" sz="1200" b="1" dirty="0">
                <a:solidFill>
                  <a:schemeClr val="accent4">
                    <a:lumMod val="75000"/>
                  </a:schemeClr>
                </a:solidFill>
                <a:latin typeface="+mj-lt"/>
              </a:rPr>
              <a:t>gender category</a:t>
            </a:r>
            <a:r>
              <a:rPr lang="en-US" sz="1200" dirty="0">
                <a:solidFill>
                  <a:schemeClr val="accent4">
                    <a:lumMod val="75000"/>
                  </a:schemeClr>
                </a:solidFill>
                <a:latin typeface="+mj-lt"/>
              </a:rPr>
              <a:t>.</a:t>
            </a:r>
          </a:p>
          <a:p>
            <a:pPr algn="just">
              <a:buFont typeface="Arial" panose="020B0604020202020204" pitchFamily="34" charset="0"/>
              <a:buChar char="•"/>
            </a:pPr>
            <a:r>
              <a:rPr lang="en-US" sz="1200" dirty="0">
                <a:solidFill>
                  <a:schemeClr val="accent4">
                    <a:lumMod val="75000"/>
                  </a:schemeClr>
                </a:solidFill>
                <a:latin typeface="+mj-lt"/>
              </a:rPr>
              <a:t>The </a:t>
            </a:r>
            <a:r>
              <a:rPr lang="en-US" sz="1200" b="1" dirty="0">
                <a:solidFill>
                  <a:schemeClr val="accent4">
                    <a:lumMod val="75000"/>
                  </a:schemeClr>
                </a:solidFill>
                <a:latin typeface="+mj-lt"/>
              </a:rPr>
              <a:t>size</a:t>
            </a:r>
            <a:r>
              <a:rPr lang="en-US" sz="1200" dirty="0">
                <a:solidFill>
                  <a:schemeClr val="accent4">
                    <a:lumMod val="75000"/>
                  </a:schemeClr>
                </a:solidFill>
                <a:latin typeface="+mj-lt"/>
              </a:rPr>
              <a:t> of each rectangle reflects the </a:t>
            </a:r>
            <a:r>
              <a:rPr lang="en-US" sz="1200" b="1" dirty="0">
                <a:solidFill>
                  <a:schemeClr val="accent4">
                    <a:lumMod val="75000"/>
                  </a:schemeClr>
                </a:solidFill>
                <a:latin typeface="+mj-lt"/>
              </a:rPr>
              <a:t>number of patients</a:t>
            </a:r>
            <a:r>
              <a:rPr lang="en-US" sz="1200" dirty="0">
                <a:solidFill>
                  <a:schemeClr val="accent4">
                    <a:lumMod val="75000"/>
                  </a:schemeClr>
                </a:solidFill>
                <a:latin typeface="+mj-lt"/>
              </a:rPr>
              <a:t> in that gender.</a:t>
            </a:r>
          </a:p>
          <a:p>
            <a:pPr algn="just">
              <a:buFont typeface="Arial" panose="020B0604020202020204" pitchFamily="34" charset="0"/>
              <a:buChar char="•"/>
            </a:pPr>
            <a:r>
              <a:rPr lang="en-US" sz="1200" dirty="0">
                <a:solidFill>
                  <a:schemeClr val="accent4">
                    <a:lumMod val="75000"/>
                  </a:schemeClr>
                </a:solidFill>
                <a:latin typeface="+mj-lt"/>
              </a:rPr>
              <a:t>Colors help differentiate between categories.</a:t>
            </a:r>
          </a:p>
          <a:p>
            <a:pPr algn="just">
              <a:buNone/>
            </a:pPr>
            <a:r>
              <a:rPr lang="en-US" sz="1200" b="1" dirty="0">
                <a:solidFill>
                  <a:schemeClr val="accent4">
                    <a:lumMod val="75000"/>
                  </a:schemeClr>
                </a:solidFill>
                <a:latin typeface="+mj-lt"/>
              </a:rPr>
              <a:t>🔍 Observations:</a:t>
            </a:r>
          </a:p>
          <a:p>
            <a:pPr algn="just">
              <a:buFont typeface="Arial" panose="020B0604020202020204" pitchFamily="34" charset="0"/>
              <a:buChar char="•"/>
            </a:pPr>
            <a:r>
              <a:rPr lang="en-US" sz="1200" b="1" dirty="0">
                <a:solidFill>
                  <a:schemeClr val="accent4">
                    <a:lumMod val="75000"/>
                  </a:schemeClr>
                </a:solidFill>
                <a:latin typeface="+mj-lt"/>
              </a:rPr>
              <a:t>Male and Female</a:t>
            </a:r>
            <a:r>
              <a:rPr lang="en-US" sz="1200" dirty="0">
                <a:solidFill>
                  <a:schemeClr val="accent4">
                    <a:lumMod val="75000"/>
                  </a:schemeClr>
                </a:solidFill>
                <a:latin typeface="+mj-lt"/>
              </a:rPr>
              <a:t> dominate the distribution with nearly equal counts.</a:t>
            </a:r>
          </a:p>
          <a:p>
            <a:pPr algn="just">
              <a:buFont typeface="Arial" panose="020B0604020202020204" pitchFamily="34" charset="0"/>
              <a:buChar char="•"/>
            </a:pPr>
            <a:r>
              <a:rPr lang="en-US" sz="1200" dirty="0">
                <a:solidFill>
                  <a:schemeClr val="accent4">
                    <a:lumMod val="75000"/>
                  </a:schemeClr>
                </a:solidFill>
                <a:latin typeface="+mj-lt"/>
              </a:rPr>
              <a:t>The data includes some patients who do not identify as male or female, such as Agender and Non-binary. This shows that the hospital is welcoming to all kinds of people.</a:t>
            </a:r>
            <a:endParaRPr sz="1200" dirty="0">
              <a:solidFill>
                <a:schemeClr val="accent4">
                  <a:lumMod val="75000"/>
                </a:schemeClr>
              </a:solidFill>
              <a:latin typeface="+mj-lt"/>
              <a:sym typeface="Arial"/>
            </a:endParaRPr>
          </a:p>
          <a:p>
            <a:pPr marL="0" lvl="0" indent="0" algn="just" rtl="0">
              <a:lnSpc>
                <a:spcPct val="115000"/>
              </a:lnSpc>
              <a:spcBef>
                <a:spcPts val="1200"/>
              </a:spcBef>
              <a:spcAft>
                <a:spcPts val="1200"/>
              </a:spcAft>
              <a:buSzPts val="275"/>
              <a:buNone/>
            </a:pPr>
            <a:endParaRPr sz="1200" dirty="0">
              <a:solidFill>
                <a:schemeClr val="accent4">
                  <a:lumMod val="75000"/>
                </a:schemeClr>
              </a:solidFill>
            </a:endParaRPr>
          </a:p>
        </p:txBody>
      </p:sp>
      <p:pic>
        <p:nvPicPr>
          <p:cNvPr id="3" name="Picture 2">
            <a:extLst>
              <a:ext uri="{FF2B5EF4-FFF2-40B4-BE49-F238E27FC236}">
                <a16:creationId xmlns:a16="http://schemas.microsoft.com/office/drawing/2014/main" id="{BAA8E0B8-B0D3-A26E-26B8-6F1C2C4790CA}"/>
              </a:ext>
            </a:extLst>
          </p:cNvPr>
          <p:cNvPicPr>
            <a:picLocks noChangeAspect="1"/>
          </p:cNvPicPr>
          <p:nvPr/>
        </p:nvPicPr>
        <p:blipFill>
          <a:blip r:embed="rId3"/>
          <a:stretch>
            <a:fillRect/>
          </a:stretch>
        </p:blipFill>
        <p:spPr>
          <a:xfrm>
            <a:off x="4029349" y="1025911"/>
            <a:ext cx="4976234" cy="35609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CDFC4C48-B245-8E09-7847-654945714A21}"/>
            </a:ext>
          </a:extLst>
        </p:cNvPr>
        <p:cNvGrpSpPr/>
        <p:nvPr/>
      </p:nvGrpSpPr>
      <p:grpSpPr>
        <a:xfrm>
          <a:off x="0" y="0"/>
          <a:ext cx="0" cy="0"/>
          <a:chOff x="0" y="0"/>
          <a:chExt cx="0" cy="0"/>
        </a:xfrm>
      </p:grpSpPr>
      <p:sp>
        <p:nvSpPr>
          <p:cNvPr id="85" name="Google Shape;85;p16">
            <a:extLst>
              <a:ext uri="{FF2B5EF4-FFF2-40B4-BE49-F238E27FC236}">
                <a16:creationId xmlns:a16="http://schemas.microsoft.com/office/drawing/2014/main" id="{51414A85-06E9-26F2-124C-B69B09CF8B34}"/>
              </a:ext>
            </a:extLst>
          </p:cNvPr>
          <p:cNvSpPr txBox="1">
            <a:spLocks noGrp="1"/>
          </p:cNvSpPr>
          <p:nvPr>
            <p:ph type="title"/>
          </p:nvPr>
        </p:nvSpPr>
        <p:spPr>
          <a:xfrm>
            <a:off x="311700" y="-223024"/>
            <a:ext cx="8520600" cy="817756"/>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US" dirty="0">
                <a:solidFill>
                  <a:schemeClr val="accent4">
                    <a:lumMod val="75000"/>
                  </a:schemeClr>
                </a:solidFill>
              </a:rPr>
              <a:t>Top Departments by Patient Volume</a:t>
            </a:r>
            <a:endParaRPr dirty="0">
              <a:solidFill>
                <a:schemeClr val="accent4">
                  <a:lumMod val="75000"/>
                </a:schemeClr>
              </a:solidFill>
              <a:latin typeface="Arial"/>
              <a:ea typeface="Arial"/>
              <a:cs typeface="Arial"/>
              <a:sym typeface="Arial"/>
            </a:endParaRPr>
          </a:p>
          <a:p>
            <a:pPr marL="0" lvl="0" indent="0" algn="l" rtl="0">
              <a:spcBef>
                <a:spcPts val="0"/>
              </a:spcBef>
              <a:spcAft>
                <a:spcPts val="0"/>
              </a:spcAft>
              <a:buNone/>
            </a:pPr>
            <a:endParaRPr dirty="0"/>
          </a:p>
        </p:txBody>
      </p:sp>
      <p:sp>
        <p:nvSpPr>
          <p:cNvPr id="86" name="Google Shape;86;p16">
            <a:extLst>
              <a:ext uri="{FF2B5EF4-FFF2-40B4-BE49-F238E27FC236}">
                <a16:creationId xmlns:a16="http://schemas.microsoft.com/office/drawing/2014/main" id="{932CF2E2-4CAD-5C83-7B88-FFD34D7492AB}"/>
              </a:ext>
            </a:extLst>
          </p:cNvPr>
          <p:cNvSpPr txBox="1">
            <a:spLocks noGrp="1"/>
          </p:cNvSpPr>
          <p:nvPr>
            <p:ph type="body" idx="1"/>
          </p:nvPr>
        </p:nvSpPr>
        <p:spPr>
          <a:xfrm>
            <a:off x="220356" y="1419920"/>
            <a:ext cx="4096749" cy="2111300"/>
          </a:xfrm>
          <a:prstGeom prst="rect">
            <a:avLst/>
          </a:prstGeom>
        </p:spPr>
        <p:txBody>
          <a:bodyPr spcFirstLastPara="1" wrap="square" lIns="91425" tIns="91425" rIns="91425" bIns="91425" anchor="ctr" anchorCtr="0">
            <a:noAutofit/>
          </a:bodyPr>
          <a:lstStyle/>
          <a:p>
            <a:pPr>
              <a:buNone/>
            </a:pPr>
            <a:r>
              <a:rPr lang="en-US" sz="1000" b="1" dirty="0">
                <a:solidFill>
                  <a:schemeClr val="accent4">
                    <a:lumMod val="75000"/>
                  </a:schemeClr>
                </a:solidFill>
                <a:latin typeface="+mj-lt"/>
              </a:rPr>
              <a:t>✅ Key Insights:</a:t>
            </a:r>
          </a:p>
          <a:p>
            <a:r>
              <a:rPr lang="en-US" sz="1000" dirty="0">
                <a:solidFill>
                  <a:schemeClr val="accent4">
                    <a:lumMod val="75000"/>
                  </a:schemeClr>
                </a:solidFill>
                <a:latin typeface="+mj-lt"/>
              </a:rPr>
              <a:t>Pediatrics has the most number of patients (717), showing that many people need child healthcare.</a:t>
            </a:r>
          </a:p>
          <a:p>
            <a:r>
              <a:rPr lang="en-US" sz="1000" dirty="0">
                <a:solidFill>
                  <a:schemeClr val="accent4">
                    <a:lumMod val="75000"/>
                  </a:schemeClr>
                </a:solidFill>
                <a:latin typeface="+mj-lt"/>
              </a:rPr>
              <a:t>General Medicine (684), Orthopedics (683), and Neurology (683) also have many patients. These are important departments for regular health issues.</a:t>
            </a:r>
          </a:p>
          <a:p>
            <a:r>
              <a:rPr lang="en-US" sz="1000" dirty="0">
                <a:solidFill>
                  <a:schemeClr val="accent4">
                    <a:lumMod val="75000"/>
                  </a:schemeClr>
                </a:solidFill>
                <a:latin typeface="+mj-lt"/>
              </a:rPr>
              <a:t>Oncology (cancer care) has the fewest patients (622), maybe because it deals with special or serious cases.</a:t>
            </a:r>
          </a:p>
          <a:p>
            <a:r>
              <a:rPr lang="en-US" sz="1000" dirty="0">
                <a:solidFill>
                  <a:schemeClr val="accent4">
                    <a:lumMod val="75000"/>
                  </a:schemeClr>
                </a:solidFill>
                <a:latin typeface="+mj-lt"/>
              </a:rPr>
              <a:t>Overall, the number of patients in each department is quite similar, showing the hospital services are well-balanced.</a:t>
            </a:r>
          </a:p>
        </p:txBody>
      </p:sp>
      <p:sp>
        <p:nvSpPr>
          <p:cNvPr id="2" name="Google Shape;86;p16">
            <a:extLst>
              <a:ext uri="{FF2B5EF4-FFF2-40B4-BE49-F238E27FC236}">
                <a16:creationId xmlns:a16="http://schemas.microsoft.com/office/drawing/2014/main" id="{656F0EBF-1D86-EC2F-FECA-F396C4C73A13}"/>
              </a:ext>
            </a:extLst>
          </p:cNvPr>
          <p:cNvSpPr txBox="1">
            <a:spLocks/>
          </p:cNvSpPr>
          <p:nvPr/>
        </p:nvSpPr>
        <p:spPr>
          <a:xfrm>
            <a:off x="311700" y="699320"/>
            <a:ext cx="8669815" cy="72060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lgn="just">
              <a:buNone/>
            </a:pPr>
            <a:r>
              <a:rPr lang="en-US" sz="1400" b="1" dirty="0">
                <a:solidFill>
                  <a:schemeClr val="accent4">
                    <a:lumMod val="75000"/>
                  </a:schemeClr>
                </a:solidFill>
                <a:latin typeface="+mj-lt"/>
              </a:rPr>
              <a:t>📌 Chart Overview:</a:t>
            </a:r>
          </a:p>
          <a:p>
            <a:pPr marL="114300" indent="0">
              <a:buNone/>
            </a:pPr>
            <a:r>
              <a:rPr lang="en-US" sz="1400" dirty="0">
                <a:solidFill>
                  <a:schemeClr val="accent4">
                    <a:lumMod val="75000"/>
                  </a:schemeClr>
                </a:solidFill>
                <a:latin typeface="+mj-lt"/>
              </a:rPr>
              <a:t>This bar chart shows the number of unique patients across different sample departments. Each bar represents a department, and the height shows the total number of patients.</a:t>
            </a:r>
          </a:p>
        </p:txBody>
      </p:sp>
      <p:sp>
        <p:nvSpPr>
          <p:cNvPr id="4" name="Google Shape;86;p16">
            <a:extLst>
              <a:ext uri="{FF2B5EF4-FFF2-40B4-BE49-F238E27FC236}">
                <a16:creationId xmlns:a16="http://schemas.microsoft.com/office/drawing/2014/main" id="{1224F816-7156-47E8-54CF-C6D69F66F962}"/>
              </a:ext>
            </a:extLst>
          </p:cNvPr>
          <p:cNvSpPr txBox="1">
            <a:spLocks/>
          </p:cNvSpPr>
          <p:nvPr/>
        </p:nvSpPr>
        <p:spPr>
          <a:xfrm>
            <a:off x="311700" y="3382538"/>
            <a:ext cx="4005405" cy="13063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algn="just">
              <a:buFont typeface="Open Sans"/>
              <a:buNone/>
            </a:pPr>
            <a:r>
              <a:rPr lang="en-US" sz="1000" b="1" dirty="0">
                <a:solidFill>
                  <a:schemeClr val="accent4">
                    <a:lumMod val="75000"/>
                  </a:schemeClr>
                </a:solidFill>
                <a:latin typeface="+mj-lt"/>
              </a:rPr>
              <a:t>📌 Interpretation:</a:t>
            </a:r>
          </a:p>
          <a:p>
            <a:pPr algn="just">
              <a:buFont typeface="Open Sans"/>
              <a:buNone/>
            </a:pPr>
            <a:r>
              <a:rPr lang="en-US" sz="1000" dirty="0">
                <a:solidFill>
                  <a:schemeClr val="accent4">
                    <a:lumMod val="75000"/>
                  </a:schemeClr>
                </a:solidFill>
                <a:latin typeface="+mj-lt"/>
              </a:rPr>
              <a:t>This visualization helps stakeholders:</a:t>
            </a:r>
          </a:p>
          <a:p>
            <a:pPr algn="just">
              <a:buFont typeface="Arial" panose="020B0604020202020204" pitchFamily="34" charset="0"/>
              <a:buChar char="•"/>
            </a:pPr>
            <a:r>
              <a:rPr lang="en-US" sz="1000" dirty="0">
                <a:solidFill>
                  <a:schemeClr val="accent4">
                    <a:lumMod val="75000"/>
                  </a:schemeClr>
                </a:solidFill>
                <a:latin typeface="+mj-lt"/>
              </a:rPr>
              <a:t>Identify which departments are </a:t>
            </a:r>
            <a:r>
              <a:rPr lang="en-US" sz="1000" b="1" dirty="0">
                <a:solidFill>
                  <a:schemeClr val="accent4">
                    <a:lumMod val="75000"/>
                  </a:schemeClr>
                </a:solidFill>
                <a:latin typeface="+mj-lt"/>
              </a:rPr>
              <a:t>most in demand</a:t>
            </a:r>
            <a:r>
              <a:rPr lang="en-US" sz="1000" dirty="0">
                <a:solidFill>
                  <a:schemeClr val="accent4">
                    <a:lumMod val="75000"/>
                  </a:schemeClr>
                </a:solidFill>
                <a:latin typeface="+mj-lt"/>
              </a:rPr>
              <a:t>.</a:t>
            </a:r>
          </a:p>
          <a:p>
            <a:pPr algn="just">
              <a:buFont typeface="Arial" panose="020B0604020202020204" pitchFamily="34" charset="0"/>
              <a:buChar char="•"/>
            </a:pPr>
            <a:r>
              <a:rPr lang="en-US" sz="1000" dirty="0">
                <a:solidFill>
                  <a:schemeClr val="accent4">
                    <a:lumMod val="75000"/>
                  </a:schemeClr>
                </a:solidFill>
                <a:latin typeface="+mj-lt"/>
              </a:rPr>
              <a:t>Allocate resources and staff effectively.</a:t>
            </a:r>
          </a:p>
          <a:p>
            <a:pPr algn="just">
              <a:buFont typeface="Arial" panose="020B0604020202020204" pitchFamily="34" charset="0"/>
              <a:buChar char="•"/>
            </a:pPr>
            <a:r>
              <a:rPr lang="en-US" sz="1000" dirty="0">
                <a:solidFill>
                  <a:schemeClr val="accent4">
                    <a:lumMod val="75000"/>
                  </a:schemeClr>
                </a:solidFill>
                <a:latin typeface="+mj-lt"/>
              </a:rPr>
              <a:t>Plan department-specific strategies for better </a:t>
            </a:r>
            <a:r>
              <a:rPr lang="en-US" sz="1000" b="1" dirty="0">
                <a:solidFill>
                  <a:schemeClr val="accent4">
                    <a:lumMod val="75000"/>
                  </a:schemeClr>
                </a:solidFill>
                <a:latin typeface="+mj-lt"/>
              </a:rPr>
              <a:t>patient flow and experience</a:t>
            </a:r>
            <a:r>
              <a:rPr lang="en-US" sz="1000" dirty="0">
                <a:solidFill>
                  <a:schemeClr val="accent4">
                    <a:lumMod val="75000"/>
                  </a:schemeClr>
                </a:solidFill>
                <a:latin typeface="+mj-lt"/>
              </a:rPr>
              <a:t>.</a:t>
            </a:r>
          </a:p>
        </p:txBody>
      </p:sp>
      <p:pic>
        <p:nvPicPr>
          <p:cNvPr id="6" name="Picture 5">
            <a:extLst>
              <a:ext uri="{FF2B5EF4-FFF2-40B4-BE49-F238E27FC236}">
                <a16:creationId xmlns:a16="http://schemas.microsoft.com/office/drawing/2014/main" id="{A377E9B7-F925-CC30-2EFF-EACED7E7D18F}"/>
              </a:ext>
            </a:extLst>
          </p:cNvPr>
          <p:cNvPicPr>
            <a:picLocks noChangeAspect="1"/>
          </p:cNvPicPr>
          <p:nvPr/>
        </p:nvPicPr>
        <p:blipFill>
          <a:blip r:embed="rId3"/>
          <a:stretch>
            <a:fillRect/>
          </a:stretch>
        </p:blipFill>
        <p:spPr>
          <a:xfrm>
            <a:off x="4317105" y="1469891"/>
            <a:ext cx="4731686" cy="3169016"/>
          </a:xfrm>
          <a:prstGeom prst="rect">
            <a:avLst/>
          </a:prstGeom>
        </p:spPr>
      </p:pic>
    </p:spTree>
    <p:extLst>
      <p:ext uri="{BB962C8B-B14F-4D97-AF65-F5344CB8AC3E}">
        <p14:creationId xmlns:p14="http://schemas.microsoft.com/office/powerpoint/2010/main" val="72246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A070EAA9-E76C-A723-D380-B8A260A73D66}"/>
            </a:ext>
          </a:extLst>
        </p:cNvPr>
        <p:cNvGrpSpPr/>
        <p:nvPr/>
      </p:nvGrpSpPr>
      <p:grpSpPr>
        <a:xfrm>
          <a:off x="0" y="0"/>
          <a:ext cx="0" cy="0"/>
          <a:chOff x="0" y="0"/>
          <a:chExt cx="0" cy="0"/>
        </a:xfrm>
      </p:grpSpPr>
      <p:sp>
        <p:nvSpPr>
          <p:cNvPr id="85" name="Google Shape;85;p16">
            <a:extLst>
              <a:ext uri="{FF2B5EF4-FFF2-40B4-BE49-F238E27FC236}">
                <a16:creationId xmlns:a16="http://schemas.microsoft.com/office/drawing/2014/main" id="{C7419F91-D78E-BD34-FE8B-E0E4E8FF2BD7}"/>
              </a:ext>
            </a:extLst>
          </p:cNvPr>
          <p:cNvSpPr txBox="1">
            <a:spLocks noGrp="1"/>
          </p:cNvSpPr>
          <p:nvPr>
            <p:ph type="title"/>
          </p:nvPr>
        </p:nvSpPr>
        <p:spPr>
          <a:xfrm>
            <a:off x="311700" y="0"/>
            <a:ext cx="8520600" cy="7206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IN" dirty="0">
                <a:solidFill>
                  <a:schemeClr val="accent4">
                    <a:lumMod val="75000"/>
                  </a:schemeClr>
                </a:solidFill>
              </a:rPr>
              <a:t>Diagnosis Category by Gender</a:t>
            </a:r>
            <a:endParaRPr dirty="0">
              <a:solidFill>
                <a:schemeClr val="accent4">
                  <a:lumMod val="75000"/>
                </a:schemeClr>
              </a:solidFill>
            </a:endParaRPr>
          </a:p>
        </p:txBody>
      </p:sp>
      <p:sp>
        <p:nvSpPr>
          <p:cNvPr id="86" name="Google Shape;86;p16">
            <a:extLst>
              <a:ext uri="{FF2B5EF4-FFF2-40B4-BE49-F238E27FC236}">
                <a16:creationId xmlns:a16="http://schemas.microsoft.com/office/drawing/2014/main" id="{F5694307-CC8F-1B62-65D1-D5EAB5BB7269}"/>
              </a:ext>
            </a:extLst>
          </p:cNvPr>
          <p:cNvSpPr txBox="1">
            <a:spLocks noGrp="1"/>
          </p:cNvSpPr>
          <p:nvPr>
            <p:ph type="body" idx="1"/>
          </p:nvPr>
        </p:nvSpPr>
        <p:spPr>
          <a:xfrm>
            <a:off x="287632" y="1642946"/>
            <a:ext cx="4096749" cy="1821366"/>
          </a:xfrm>
          <a:prstGeom prst="rect">
            <a:avLst/>
          </a:prstGeom>
        </p:spPr>
        <p:txBody>
          <a:bodyPr spcFirstLastPara="1" wrap="square" lIns="91425" tIns="91425" rIns="91425" bIns="91425" anchor="ctr" anchorCtr="0">
            <a:noAutofit/>
          </a:bodyPr>
          <a:lstStyle/>
          <a:p>
            <a:pPr algn="just">
              <a:buNone/>
            </a:pPr>
            <a:r>
              <a:rPr lang="en-US" sz="1200" b="1" dirty="0">
                <a:solidFill>
                  <a:schemeClr val="accent4">
                    <a:lumMod val="75000"/>
                  </a:schemeClr>
                </a:solidFill>
                <a:latin typeface="+mj-lt"/>
              </a:rPr>
              <a:t>📌 Insights:</a:t>
            </a:r>
          </a:p>
          <a:p>
            <a:pPr algn="just">
              <a:buFont typeface="Arial" panose="020B0604020202020204" pitchFamily="34" charset="0"/>
              <a:buChar char="•"/>
            </a:pPr>
            <a:r>
              <a:rPr lang="en-US" sz="1200" dirty="0">
                <a:solidFill>
                  <a:schemeClr val="accent4">
                    <a:lumMod val="75000"/>
                  </a:schemeClr>
                </a:solidFill>
                <a:latin typeface="+mj-lt"/>
              </a:rPr>
              <a:t>Diabetes and High Blood Pressure are the most common diseases for all genders.</a:t>
            </a:r>
          </a:p>
          <a:p>
            <a:pPr algn="just">
              <a:buFont typeface="Arial" panose="020B0604020202020204" pitchFamily="34" charset="0"/>
              <a:buChar char="•"/>
            </a:pPr>
            <a:r>
              <a:rPr lang="en-US" sz="1200" dirty="0">
                <a:solidFill>
                  <a:schemeClr val="accent4">
                    <a:lumMod val="75000"/>
                  </a:schemeClr>
                </a:solidFill>
                <a:latin typeface="+mj-lt"/>
              </a:rPr>
              <a:t>Female patients (shown in yellow) make up a large part of all disease groups.</a:t>
            </a:r>
          </a:p>
          <a:p>
            <a:pPr algn="just">
              <a:buFont typeface="Arial" panose="020B0604020202020204" pitchFamily="34" charset="0"/>
              <a:buChar char="•"/>
            </a:pPr>
            <a:r>
              <a:rPr lang="en-US" sz="1200" dirty="0">
                <a:solidFill>
                  <a:schemeClr val="accent4">
                    <a:lumMod val="75000"/>
                  </a:schemeClr>
                </a:solidFill>
                <a:latin typeface="+mj-lt"/>
              </a:rPr>
              <a:t>Some diseases are more common in one gender—for example, more females have Diabetes and Kidney Disease.</a:t>
            </a:r>
          </a:p>
          <a:p>
            <a:pPr algn="just">
              <a:buFont typeface="Arial" panose="020B0604020202020204" pitchFamily="34" charset="0"/>
              <a:buChar char="•"/>
            </a:pPr>
            <a:r>
              <a:rPr lang="en-US" sz="1200" dirty="0">
                <a:solidFill>
                  <a:schemeClr val="accent4">
                    <a:lumMod val="75000"/>
                  </a:schemeClr>
                </a:solidFill>
                <a:latin typeface="+mj-lt"/>
              </a:rPr>
              <a:t>Lung Cancer and Heart Disease affect men and women in similar numbers.</a:t>
            </a:r>
          </a:p>
        </p:txBody>
      </p:sp>
      <p:sp>
        <p:nvSpPr>
          <p:cNvPr id="2" name="Google Shape;86;p16">
            <a:extLst>
              <a:ext uri="{FF2B5EF4-FFF2-40B4-BE49-F238E27FC236}">
                <a16:creationId xmlns:a16="http://schemas.microsoft.com/office/drawing/2014/main" id="{220824ED-3EB4-4E05-A9DD-429D3DD47417}"/>
              </a:ext>
            </a:extLst>
          </p:cNvPr>
          <p:cNvSpPr txBox="1">
            <a:spLocks/>
          </p:cNvSpPr>
          <p:nvPr/>
        </p:nvSpPr>
        <p:spPr>
          <a:xfrm>
            <a:off x="311700" y="699320"/>
            <a:ext cx="8669815" cy="107000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a:buNone/>
            </a:pPr>
            <a:r>
              <a:rPr lang="en-US" sz="1400" b="1" dirty="0">
                <a:solidFill>
                  <a:schemeClr val="accent4">
                    <a:lumMod val="75000"/>
                  </a:schemeClr>
                </a:solidFill>
                <a:latin typeface="+mj-lt"/>
              </a:rPr>
              <a:t>🔍 Overview:</a:t>
            </a:r>
          </a:p>
          <a:p>
            <a:pPr marL="114300" indent="0">
              <a:buNone/>
            </a:pPr>
            <a:r>
              <a:rPr lang="en-US" sz="1400" dirty="0">
                <a:solidFill>
                  <a:schemeClr val="accent4">
                    <a:lumMod val="75000"/>
                  </a:schemeClr>
                </a:solidFill>
                <a:latin typeface="+mj-lt"/>
              </a:rPr>
              <a:t>This stacked bar chart shows the </a:t>
            </a:r>
            <a:r>
              <a:rPr lang="en-US" sz="1400" b="1" dirty="0">
                <a:solidFill>
                  <a:schemeClr val="accent4">
                    <a:lumMod val="75000"/>
                  </a:schemeClr>
                </a:solidFill>
                <a:latin typeface="+mj-lt"/>
              </a:rPr>
              <a:t>distribution of patients</a:t>
            </a:r>
            <a:r>
              <a:rPr lang="en-US" sz="1400" dirty="0">
                <a:solidFill>
                  <a:schemeClr val="accent4">
                    <a:lumMod val="75000"/>
                  </a:schemeClr>
                </a:solidFill>
                <a:latin typeface="+mj-lt"/>
              </a:rPr>
              <a:t> across </a:t>
            </a:r>
            <a:r>
              <a:rPr lang="en-US" sz="1400" b="1" dirty="0">
                <a:solidFill>
                  <a:schemeClr val="accent4">
                    <a:lumMod val="75000"/>
                  </a:schemeClr>
                </a:solidFill>
                <a:latin typeface="+mj-lt"/>
              </a:rPr>
              <a:t>various diagnosis categories</a:t>
            </a:r>
            <a:r>
              <a:rPr lang="en-US" sz="1400" dirty="0">
                <a:solidFill>
                  <a:schemeClr val="accent4">
                    <a:lumMod val="75000"/>
                  </a:schemeClr>
                </a:solidFill>
                <a:latin typeface="+mj-lt"/>
              </a:rPr>
              <a:t>, broken down by </a:t>
            </a:r>
            <a:r>
              <a:rPr lang="en-US" sz="1400" b="1" dirty="0">
                <a:solidFill>
                  <a:schemeClr val="accent4">
                    <a:lumMod val="75000"/>
                  </a:schemeClr>
                </a:solidFill>
                <a:latin typeface="+mj-lt"/>
              </a:rPr>
              <a:t>gender</a:t>
            </a:r>
            <a:endParaRPr lang="en-US" sz="1400" dirty="0">
              <a:solidFill>
                <a:schemeClr val="accent4">
                  <a:lumMod val="75000"/>
                </a:schemeClr>
              </a:solidFill>
              <a:latin typeface="+mj-lt"/>
            </a:endParaRPr>
          </a:p>
          <a:p>
            <a:pPr marL="114300" indent="0">
              <a:buNone/>
            </a:pPr>
            <a:endParaRPr lang="en-US" sz="1600" dirty="0">
              <a:solidFill>
                <a:schemeClr val="accent4">
                  <a:lumMod val="75000"/>
                </a:schemeClr>
              </a:solidFill>
              <a:latin typeface="+mj-lt"/>
            </a:endParaRPr>
          </a:p>
        </p:txBody>
      </p:sp>
      <p:sp>
        <p:nvSpPr>
          <p:cNvPr id="4" name="Google Shape;86;p16">
            <a:extLst>
              <a:ext uri="{FF2B5EF4-FFF2-40B4-BE49-F238E27FC236}">
                <a16:creationId xmlns:a16="http://schemas.microsoft.com/office/drawing/2014/main" id="{FA7A3340-7FDF-B83C-BAC1-3BDC3D6126A1}"/>
              </a:ext>
            </a:extLst>
          </p:cNvPr>
          <p:cNvSpPr txBox="1">
            <a:spLocks/>
          </p:cNvSpPr>
          <p:nvPr/>
        </p:nvSpPr>
        <p:spPr>
          <a:xfrm>
            <a:off x="326036" y="3598127"/>
            <a:ext cx="4082413" cy="132669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algn="just">
              <a:buNone/>
            </a:pPr>
            <a:r>
              <a:rPr lang="en-US" sz="1200" b="1" dirty="0">
                <a:solidFill>
                  <a:schemeClr val="accent4">
                    <a:lumMod val="75000"/>
                  </a:schemeClr>
                </a:solidFill>
                <a:latin typeface="+mj-lt"/>
              </a:rPr>
              <a:t>📈 Purpose:</a:t>
            </a:r>
          </a:p>
          <a:p>
            <a:pPr algn="just">
              <a:buNone/>
            </a:pPr>
            <a:r>
              <a:rPr lang="en-US" sz="1200" dirty="0">
                <a:solidFill>
                  <a:schemeClr val="accent4">
                    <a:lumMod val="75000"/>
                  </a:schemeClr>
                </a:solidFill>
                <a:latin typeface="+mj-lt"/>
              </a:rPr>
              <a:t>This visual helps to:</a:t>
            </a:r>
          </a:p>
          <a:p>
            <a:pPr algn="just">
              <a:buFont typeface="Arial" panose="020B0604020202020204" pitchFamily="34" charset="0"/>
              <a:buChar char="•"/>
            </a:pPr>
            <a:r>
              <a:rPr lang="en-US" sz="1200" dirty="0">
                <a:solidFill>
                  <a:schemeClr val="accent4">
                    <a:lumMod val="75000"/>
                  </a:schemeClr>
                </a:solidFill>
                <a:latin typeface="+mj-lt"/>
              </a:rPr>
              <a:t>Find out if some diseases affect one gender more than others.</a:t>
            </a:r>
          </a:p>
          <a:p>
            <a:pPr algn="just">
              <a:buFont typeface="Arial" panose="020B0604020202020204" pitchFamily="34" charset="0"/>
              <a:buChar char="•"/>
            </a:pPr>
            <a:r>
              <a:rPr lang="en-US" sz="1200" dirty="0">
                <a:solidFill>
                  <a:schemeClr val="accent4">
                    <a:lumMod val="75000"/>
                  </a:schemeClr>
                </a:solidFill>
                <a:latin typeface="+mj-lt"/>
              </a:rPr>
              <a:t>Use this information to plan health programs or awareness activities for specific genders.</a:t>
            </a:r>
          </a:p>
        </p:txBody>
      </p:sp>
      <p:pic>
        <p:nvPicPr>
          <p:cNvPr id="8" name="Picture 7">
            <a:extLst>
              <a:ext uri="{FF2B5EF4-FFF2-40B4-BE49-F238E27FC236}">
                <a16:creationId xmlns:a16="http://schemas.microsoft.com/office/drawing/2014/main" id="{5BEED219-EBC8-1FE6-371E-549B3E2D6567}"/>
              </a:ext>
            </a:extLst>
          </p:cNvPr>
          <p:cNvPicPr>
            <a:picLocks noChangeAspect="1"/>
          </p:cNvPicPr>
          <p:nvPr/>
        </p:nvPicPr>
        <p:blipFill>
          <a:blip r:embed="rId3"/>
          <a:stretch>
            <a:fillRect/>
          </a:stretch>
        </p:blipFill>
        <p:spPr>
          <a:xfrm>
            <a:off x="4408450" y="1413613"/>
            <a:ext cx="4573065" cy="3511205"/>
          </a:xfrm>
          <a:prstGeom prst="rect">
            <a:avLst/>
          </a:prstGeom>
        </p:spPr>
      </p:pic>
    </p:spTree>
    <p:extLst>
      <p:ext uri="{BB962C8B-B14F-4D97-AF65-F5344CB8AC3E}">
        <p14:creationId xmlns:p14="http://schemas.microsoft.com/office/powerpoint/2010/main" val="1573556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2F8EA85C-4B2D-A739-E8C3-87704E2521B9}"/>
            </a:ext>
          </a:extLst>
        </p:cNvPr>
        <p:cNvGrpSpPr/>
        <p:nvPr/>
      </p:nvGrpSpPr>
      <p:grpSpPr>
        <a:xfrm>
          <a:off x="0" y="0"/>
          <a:ext cx="0" cy="0"/>
          <a:chOff x="0" y="0"/>
          <a:chExt cx="0" cy="0"/>
        </a:xfrm>
      </p:grpSpPr>
      <p:sp>
        <p:nvSpPr>
          <p:cNvPr id="85" name="Google Shape;85;p16">
            <a:extLst>
              <a:ext uri="{FF2B5EF4-FFF2-40B4-BE49-F238E27FC236}">
                <a16:creationId xmlns:a16="http://schemas.microsoft.com/office/drawing/2014/main" id="{FE2BA9DB-A9E0-CC19-1053-D87D8DD8796C}"/>
              </a:ext>
            </a:extLst>
          </p:cNvPr>
          <p:cNvSpPr txBox="1">
            <a:spLocks noGrp="1"/>
          </p:cNvSpPr>
          <p:nvPr>
            <p:ph type="title"/>
          </p:nvPr>
        </p:nvSpPr>
        <p:spPr>
          <a:xfrm>
            <a:off x="311700" y="0"/>
            <a:ext cx="8520600" cy="7206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IN" dirty="0">
                <a:solidFill>
                  <a:schemeClr val="accent4">
                    <a:lumMod val="75000"/>
                  </a:schemeClr>
                </a:solidFill>
              </a:rPr>
              <a:t>Age Distribution Across Departments</a:t>
            </a:r>
            <a:endParaRPr dirty="0">
              <a:solidFill>
                <a:schemeClr val="accent4">
                  <a:lumMod val="75000"/>
                </a:schemeClr>
              </a:solidFill>
            </a:endParaRPr>
          </a:p>
        </p:txBody>
      </p:sp>
      <p:sp>
        <p:nvSpPr>
          <p:cNvPr id="86" name="Google Shape;86;p16">
            <a:extLst>
              <a:ext uri="{FF2B5EF4-FFF2-40B4-BE49-F238E27FC236}">
                <a16:creationId xmlns:a16="http://schemas.microsoft.com/office/drawing/2014/main" id="{32775CBD-6A48-A178-E1E2-C57E1E6876A5}"/>
              </a:ext>
            </a:extLst>
          </p:cNvPr>
          <p:cNvSpPr txBox="1">
            <a:spLocks noGrp="1"/>
          </p:cNvSpPr>
          <p:nvPr>
            <p:ph type="body" idx="1"/>
          </p:nvPr>
        </p:nvSpPr>
        <p:spPr>
          <a:xfrm>
            <a:off x="287632" y="1419921"/>
            <a:ext cx="4439252" cy="2148470"/>
          </a:xfrm>
          <a:prstGeom prst="rect">
            <a:avLst/>
          </a:prstGeom>
        </p:spPr>
        <p:txBody>
          <a:bodyPr spcFirstLastPara="1" wrap="square" lIns="91425" tIns="91425" rIns="91425" bIns="91425" anchor="ctr" anchorCtr="0">
            <a:noAutofit/>
          </a:bodyPr>
          <a:lstStyle/>
          <a:p>
            <a:pPr algn="just">
              <a:buNone/>
            </a:pPr>
            <a:r>
              <a:rPr lang="en-US" sz="1200" b="1" dirty="0">
                <a:solidFill>
                  <a:schemeClr val="accent4">
                    <a:lumMod val="75000"/>
                  </a:schemeClr>
                </a:solidFill>
                <a:latin typeface="+mj-lt"/>
              </a:rPr>
              <a:t>🔍 Insights:</a:t>
            </a:r>
          </a:p>
          <a:p>
            <a:pPr algn="just">
              <a:buFont typeface="Arial" panose="020B0604020202020204" pitchFamily="34" charset="0"/>
              <a:buChar char="•"/>
            </a:pPr>
            <a:r>
              <a:rPr lang="en-US" sz="1200" dirty="0">
                <a:solidFill>
                  <a:schemeClr val="accent4">
                    <a:lumMod val="75000"/>
                  </a:schemeClr>
                </a:solidFill>
                <a:latin typeface="Arial" panose="020B0604020202020204" pitchFamily="34" charset="0"/>
                <a:cs typeface="Arial" panose="020B0604020202020204" pitchFamily="34" charset="0"/>
              </a:rPr>
              <a:t>The highest number of patients are in the 50-60 age group.</a:t>
            </a:r>
          </a:p>
          <a:p>
            <a:pPr algn="just">
              <a:buFont typeface="Arial" panose="020B0604020202020204" pitchFamily="34" charset="0"/>
              <a:buChar char="•"/>
            </a:pPr>
            <a:r>
              <a:rPr lang="en-US" sz="1200" dirty="0">
                <a:solidFill>
                  <a:schemeClr val="accent4">
                    <a:lumMod val="75000"/>
                  </a:schemeClr>
                </a:solidFill>
                <a:latin typeface="Arial" panose="020B0604020202020204" pitchFamily="34" charset="0"/>
                <a:cs typeface="Arial" panose="020B0604020202020204" pitchFamily="34" charset="0"/>
              </a:rPr>
              <a:t>Departments like Cardiology, General Medicine, and Orthopedics mostly treat middle-aged and older patients.</a:t>
            </a:r>
          </a:p>
          <a:p>
            <a:pPr algn="just">
              <a:buFont typeface="Arial" panose="020B0604020202020204" pitchFamily="34" charset="0"/>
              <a:buChar char="•"/>
            </a:pPr>
            <a:r>
              <a:rPr lang="en-US" sz="1200" dirty="0">
                <a:solidFill>
                  <a:schemeClr val="accent4">
                    <a:lumMod val="75000"/>
                  </a:schemeClr>
                </a:solidFill>
                <a:latin typeface="Arial" panose="020B0604020202020204" pitchFamily="34" charset="0"/>
                <a:cs typeface="Arial" panose="020B0604020202020204" pitchFamily="34" charset="0"/>
              </a:rPr>
              <a:t>Pediatrics mainly treats patients in the 0-10 age group.</a:t>
            </a:r>
          </a:p>
          <a:p>
            <a:pPr algn="just">
              <a:buFont typeface="Arial" panose="020B0604020202020204" pitchFamily="34" charset="0"/>
              <a:buChar char="•"/>
            </a:pPr>
            <a:r>
              <a:rPr lang="en-US" sz="1200" dirty="0">
                <a:solidFill>
                  <a:schemeClr val="accent4">
                    <a:lumMod val="75000"/>
                  </a:schemeClr>
                </a:solidFill>
                <a:latin typeface="Arial" panose="020B0604020202020204" pitchFamily="34" charset="0"/>
                <a:cs typeface="Arial" panose="020B0604020202020204" pitchFamily="34" charset="0"/>
              </a:rPr>
              <a:t>Some departments treat patients of all ages, while others focus on specific age groups.</a:t>
            </a:r>
          </a:p>
        </p:txBody>
      </p:sp>
      <p:sp>
        <p:nvSpPr>
          <p:cNvPr id="2" name="Google Shape;86;p16">
            <a:extLst>
              <a:ext uri="{FF2B5EF4-FFF2-40B4-BE49-F238E27FC236}">
                <a16:creationId xmlns:a16="http://schemas.microsoft.com/office/drawing/2014/main" id="{6E6BC6AE-ACD0-8694-6171-0DB706EB96B6}"/>
              </a:ext>
            </a:extLst>
          </p:cNvPr>
          <p:cNvSpPr txBox="1">
            <a:spLocks/>
          </p:cNvSpPr>
          <p:nvPr/>
        </p:nvSpPr>
        <p:spPr>
          <a:xfrm>
            <a:off x="311700" y="699320"/>
            <a:ext cx="8669815" cy="72060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a:buNone/>
            </a:pPr>
            <a:r>
              <a:rPr lang="en-US" sz="1600" b="1" dirty="0">
                <a:solidFill>
                  <a:schemeClr val="accent4">
                    <a:lumMod val="75000"/>
                  </a:schemeClr>
                </a:solidFill>
                <a:latin typeface="+mj-lt"/>
              </a:rPr>
              <a:t>📌 Objective:</a:t>
            </a:r>
          </a:p>
          <a:p>
            <a:pPr marL="114300" indent="0">
              <a:buNone/>
            </a:pPr>
            <a:r>
              <a:rPr lang="en-US" sz="1600" dirty="0">
                <a:solidFill>
                  <a:schemeClr val="accent4">
                    <a:lumMod val="75000"/>
                  </a:schemeClr>
                </a:solidFill>
                <a:latin typeface="+mj-lt"/>
              </a:rPr>
              <a:t>To analyze how patient ages are distributed across different hospital departments.</a:t>
            </a:r>
          </a:p>
        </p:txBody>
      </p:sp>
      <p:sp>
        <p:nvSpPr>
          <p:cNvPr id="4" name="Google Shape;86;p16">
            <a:extLst>
              <a:ext uri="{FF2B5EF4-FFF2-40B4-BE49-F238E27FC236}">
                <a16:creationId xmlns:a16="http://schemas.microsoft.com/office/drawing/2014/main" id="{D7DEE0BF-4A77-1EF6-DC77-3EA576C04D48}"/>
              </a:ext>
            </a:extLst>
          </p:cNvPr>
          <p:cNvSpPr txBox="1">
            <a:spLocks/>
          </p:cNvSpPr>
          <p:nvPr/>
        </p:nvSpPr>
        <p:spPr>
          <a:xfrm>
            <a:off x="326036" y="3456878"/>
            <a:ext cx="4439252" cy="129561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indent="-342900" algn="just">
              <a:lnSpc>
                <a:spcPct val="115000"/>
              </a:lnSpc>
              <a:buClr>
                <a:schemeClr val="dk2"/>
              </a:buClr>
              <a:buSzPts val="1800"/>
              <a:buFont typeface="Open Sans"/>
              <a:buNone/>
              <a:defRPr sz="1200" b="1">
                <a:solidFill>
                  <a:schemeClr val="accent4">
                    <a:lumMod val="75000"/>
                  </a:schemeClr>
                </a:solidFill>
                <a:latin typeface="+mj-lt"/>
                <a:ea typeface="Open Sans"/>
                <a:cs typeface="Open Sans"/>
                <a:sym typeface="Open Sans"/>
              </a:defRPr>
            </a:lvl1pPr>
            <a:lvl2pPr marL="914400" indent="-317500">
              <a:lnSpc>
                <a:spcPct val="115000"/>
              </a:lnSpc>
              <a:buClr>
                <a:schemeClr val="dk2"/>
              </a:buClr>
              <a:buSzPts val="1400"/>
              <a:buFont typeface="Open Sans"/>
              <a:buChar char="○"/>
              <a:defRPr>
                <a:solidFill>
                  <a:schemeClr val="dk2"/>
                </a:solidFill>
                <a:latin typeface="Open Sans"/>
                <a:ea typeface="Open Sans"/>
                <a:cs typeface="Open Sans"/>
                <a:sym typeface="Open Sans"/>
              </a:defRPr>
            </a:lvl2pPr>
            <a:lvl3pPr marL="1371600" indent="-317500">
              <a:lnSpc>
                <a:spcPct val="115000"/>
              </a:lnSpc>
              <a:buClr>
                <a:schemeClr val="dk2"/>
              </a:buClr>
              <a:buSzPts val="1400"/>
              <a:buFont typeface="Open Sans"/>
              <a:buChar char="■"/>
              <a:defRPr>
                <a:solidFill>
                  <a:schemeClr val="dk2"/>
                </a:solidFill>
                <a:latin typeface="Open Sans"/>
                <a:ea typeface="Open Sans"/>
                <a:cs typeface="Open Sans"/>
                <a:sym typeface="Open Sans"/>
              </a:defRPr>
            </a:lvl3pPr>
            <a:lvl4pPr marL="1828800" indent="-317500">
              <a:lnSpc>
                <a:spcPct val="115000"/>
              </a:lnSpc>
              <a:buClr>
                <a:schemeClr val="dk2"/>
              </a:buClr>
              <a:buSzPts val="1400"/>
              <a:buFont typeface="Open Sans"/>
              <a:buChar char="●"/>
              <a:defRPr>
                <a:solidFill>
                  <a:schemeClr val="dk2"/>
                </a:solidFill>
                <a:latin typeface="Open Sans"/>
                <a:ea typeface="Open Sans"/>
                <a:cs typeface="Open Sans"/>
                <a:sym typeface="Open Sans"/>
              </a:defRPr>
            </a:lvl4pPr>
            <a:lvl5pPr marL="2286000" indent="-317500">
              <a:lnSpc>
                <a:spcPct val="115000"/>
              </a:lnSpc>
              <a:buClr>
                <a:schemeClr val="dk2"/>
              </a:buClr>
              <a:buSzPts val="1400"/>
              <a:buFont typeface="Open Sans"/>
              <a:buChar char="○"/>
              <a:defRPr>
                <a:solidFill>
                  <a:schemeClr val="dk2"/>
                </a:solidFill>
                <a:latin typeface="Open Sans"/>
                <a:ea typeface="Open Sans"/>
                <a:cs typeface="Open Sans"/>
                <a:sym typeface="Open Sans"/>
              </a:defRPr>
            </a:lvl5pPr>
            <a:lvl6pPr marL="2743200" indent="-317500">
              <a:lnSpc>
                <a:spcPct val="115000"/>
              </a:lnSpc>
              <a:buClr>
                <a:schemeClr val="dk2"/>
              </a:buClr>
              <a:buSzPts val="1400"/>
              <a:buFont typeface="Open Sans"/>
              <a:buChar char="■"/>
              <a:defRPr>
                <a:solidFill>
                  <a:schemeClr val="dk2"/>
                </a:solidFill>
                <a:latin typeface="Open Sans"/>
                <a:ea typeface="Open Sans"/>
                <a:cs typeface="Open Sans"/>
                <a:sym typeface="Open Sans"/>
              </a:defRPr>
            </a:lvl6pPr>
            <a:lvl7pPr marL="3200400" indent="-317500">
              <a:lnSpc>
                <a:spcPct val="115000"/>
              </a:lnSpc>
              <a:buClr>
                <a:schemeClr val="dk2"/>
              </a:buClr>
              <a:buSzPts val="1400"/>
              <a:buFont typeface="Open Sans"/>
              <a:buChar char="●"/>
              <a:defRPr>
                <a:solidFill>
                  <a:schemeClr val="dk2"/>
                </a:solidFill>
                <a:latin typeface="Open Sans"/>
                <a:ea typeface="Open Sans"/>
                <a:cs typeface="Open Sans"/>
                <a:sym typeface="Open Sans"/>
              </a:defRPr>
            </a:lvl7pPr>
            <a:lvl8pPr marL="3657600" indent="-317500">
              <a:lnSpc>
                <a:spcPct val="115000"/>
              </a:lnSpc>
              <a:buClr>
                <a:schemeClr val="dk2"/>
              </a:buClr>
              <a:buSzPts val="1400"/>
              <a:buFont typeface="Open Sans"/>
              <a:buChar char="○"/>
              <a:defRPr>
                <a:solidFill>
                  <a:schemeClr val="dk2"/>
                </a:solidFill>
                <a:latin typeface="Open Sans"/>
                <a:ea typeface="Open Sans"/>
                <a:cs typeface="Open Sans"/>
                <a:sym typeface="Open Sans"/>
              </a:defRPr>
            </a:lvl8pPr>
            <a:lvl9pPr marL="4114800" indent="-317500">
              <a:lnSpc>
                <a:spcPct val="115000"/>
              </a:lnSpc>
              <a:buClr>
                <a:schemeClr val="dk2"/>
              </a:buClr>
              <a:buSzPts val="1400"/>
              <a:buFont typeface="Open Sans"/>
              <a:buChar char="■"/>
              <a:defRPr>
                <a:solidFill>
                  <a:schemeClr val="dk2"/>
                </a:solidFill>
                <a:latin typeface="Open Sans"/>
                <a:ea typeface="Open Sans"/>
                <a:cs typeface="Open Sans"/>
                <a:sym typeface="Open Sans"/>
              </a:defRPr>
            </a:lvl9pPr>
          </a:lstStyle>
          <a:p>
            <a:r>
              <a:rPr lang="en-US" dirty="0"/>
              <a:t>✅ Conclusion:</a:t>
            </a:r>
          </a:p>
          <a:p>
            <a:pPr>
              <a:buFont typeface="Arial" panose="020B0604020202020204" pitchFamily="34" charset="0"/>
              <a:buChar char="•"/>
            </a:pPr>
            <a:r>
              <a:rPr lang="en-US" b="0" dirty="0">
                <a:latin typeface="Arial" panose="020B0604020202020204" pitchFamily="34" charset="0"/>
                <a:cs typeface="Arial" panose="020B0604020202020204" pitchFamily="34" charset="0"/>
              </a:rPr>
              <a:t>This chart gives a clear view of patients' age and the departments they visit. It shows which age groups are treated by each department, helping in planning resources and focusing on the right services.</a:t>
            </a:r>
          </a:p>
        </p:txBody>
      </p:sp>
      <p:pic>
        <p:nvPicPr>
          <p:cNvPr id="5" name="Picture 4">
            <a:extLst>
              <a:ext uri="{FF2B5EF4-FFF2-40B4-BE49-F238E27FC236}">
                <a16:creationId xmlns:a16="http://schemas.microsoft.com/office/drawing/2014/main" id="{D808DA0A-BB79-C105-B033-FFF8685D1815}"/>
              </a:ext>
            </a:extLst>
          </p:cNvPr>
          <p:cNvPicPr>
            <a:picLocks noChangeAspect="1"/>
          </p:cNvPicPr>
          <p:nvPr/>
        </p:nvPicPr>
        <p:blipFill>
          <a:blip r:embed="rId3"/>
          <a:stretch>
            <a:fillRect/>
          </a:stretch>
        </p:blipFill>
        <p:spPr>
          <a:xfrm>
            <a:off x="4899101" y="1326886"/>
            <a:ext cx="4082414" cy="3698598"/>
          </a:xfrm>
          <a:prstGeom prst="rect">
            <a:avLst/>
          </a:prstGeom>
        </p:spPr>
      </p:pic>
    </p:spTree>
    <p:extLst>
      <p:ext uri="{BB962C8B-B14F-4D97-AF65-F5344CB8AC3E}">
        <p14:creationId xmlns:p14="http://schemas.microsoft.com/office/powerpoint/2010/main" val="2295731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17677345-5396-CD6F-F35C-73392635AB04}"/>
            </a:ext>
          </a:extLst>
        </p:cNvPr>
        <p:cNvGrpSpPr/>
        <p:nvPr/>
      </p:nvGrpSpPr>
      <p:grpSpPr>
        <a:xfrm>
          <a:off x="0" y="0"/>
          <a:ext cx="0" cy="0"/>
          <a:chOff x="0" y="0"/>
          <a:chExt cx="0" cy="0"/>
        </a:xfrm>
      </p:grpSpPr>
      <p:sp>
        <p:nvSpPr>
          <p:cNvPr id="85" name="Google Shape;85;p16">
            <a:extLst>
              <a:ext uri="{FF2B5EF4-FFF2-40B4-BE49-F238E27FC236}">
                <a16:creationId xmlns:a16="http://schemas.microsoft.com/office/drawing/2014/main" id="{CB39D425-1BF5-41DF-C085-E116F59C6B7B}"/>
              </a:ext>
            </a:extLst>
          </p:cNvPr>
          <p:cNvSpPr txBox="1">
            <a:spLocks noGrp="1"/>
          </p:cNvSpPr>
          <p:nvPr>
            <p:ph type="title"/>
          </p:nvPr>
        </p:nvSpPr>
        <p:spPr>
          <a:xfrm>
            <a:off x="311700" y="-222513"/>
            <a:ext cx="8520600" cy="720601"/>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US" dirty="0">
                <a:solidFill>
                  <a:schemeClr val="accent4">
                    <a:lumMod val="75000"/>
                  </a:schemeClr>
                </a:solidFill>
              </a:rPr>
              <a:t>Blood Group and Diagnosis Patterns</a:t>
            </a:r>
            <a:endParaRPr dirty="0">
              <a:solidFill>
                <a:schemeClr val="accent4">
                  <a:lumMod val="75000"/>
                </a:schemeClr>
              </a:solidFill>
            </a:endParaRPr>
          </a:p>
        </p:txBody>
      </p:sp>
      <p:sp>
        <p:nvSpPr>
          <p:cNvPr id="86" name="Google Shape;86;p16">
            <a:extLst>
              <a:ext uri="{FF2B5EF4-FFF2-40B4-BE49-F238E27FC236}">
                <a16:creationId xmlns:a16="http://schemas.microsoft.com/office/drawing/2014/main" id="{D9001C18-9711-08D4-48F7-BC1121756CC9}"/>
              </a:ext>
            </a:extLst>
          </p:cNvPr>
          <p:cNvSpPr txBox="1">
            <a:spLocks noGrp="1"/>
          </p:cNvSpPr>
          <p:nvPr>
            <p:ph type="body" idx="1"/>
          </p:nvPr>
        </p:nvSpPr>
        <p:spPr>
          <a:xfrm>
            <a:off x="311700" y="1359519"/>
            <a:ext cx="4072681" cy="2090433"/>
          </a:xfrm>
          <a:prstGeom prst="rect">
            <a:avLst/>
          </a:prstGeom>
        </p:spPr>
        <p:txBody>
          <a:bodyPr spcFirstLastPara="1" wrap="square" lIns="91425" tIns="91425" rIns="91425" bIns="91425" anchor="ctr" anchorCtr="0">
            <a:noAutofit/>
          </a:bodyPr>
          <a:lstStyle/>
          <a:p>
            <a:pPr marL="114300" indent="0" algn="just">
              <a:buNone/>
            </a:pPr>
            <a:r>
              <a:rPr lang="en-US" sz="1100" b="1" dirty="0">
                <a:solidFill>
                  <a:schemeClr val="accent4">
                    <a:lumMod val="75000"/>
                  </a:schemeClr>
                </a:solidFill>
                <a:latin typeface="+mn-lt"/>
              </a:rPr>
              <a:t>📌 Key Insights:</a:t>
            </a:r>
          </a:p>
          <a:p>
            <a:pPr algn="just">
              <a:buFont typeface="Arial" panose="020B0604020202020204" pitchFamily="34" charset="0"/>
              <a:buChar char="•"/>
            </a:pPr>
            <a:r>
              <a:rPr lang="en-US" sz="1200" dirty="0">
                <a:solidFill>
                  <a:schemeClr val="accent4">
                    <a:lumMod val="75000"/>
                  </a:schemeClr>
                </a:solidFill>
                <a:latin typeface="Arial" panose="020B0604020202020204" pitchFamily="34" charset="0"/>
                <a:cs typeface="Arial" panose="020B0604020202020204" pitchFamily="34" charset="0"/>
              </a:rPr>
              <a:t>A+ and AB+ blood groups have the highest number of Asthma and Chronic Kidney Disease cases.</a:t>
            </a:r>
          </a:p>
          <a:p>
            <a:pPr algn="just">
              <a:buFont typeface="Arial" panose="020B0604020202020204" pitchFamily="34" charset="0"/>
              <a:buChar char="•"/>
            </a:pPr>
            <a:r>
              <a:rPr lang="en-US" sz="1200" dirty="0">
                <a:solidFill>
                  <a:schemeClr val="accent4">
                    <a:lumMod val="75000"/>
                  </a:schemeClr>
                </a:solidFill>
                <a:latin typeface="Arial" panose="020B0604020202020204" pitchFamily="34" charset="0"/>
                <a:cs typeface="Arial" panose="020B0604020202020204" pitchFamily="34" charset="0"/>
              </a:rPr>
              <a:t>Lung Cancer is found in all blood groups, with a slight increase in A+ and B+.</a:t>
            </a:r>
          </a:p>
          <a:p>
            <a:pPr algn="just">
              <a:buFont typeface="Arial" panose="020B0604020202020204" pitchFamily="34" charset="0"/>
              <a:buChar char="•"/>
            </a:pPr>
            <a:r>
              <a:rPr lang="en-US" sz="1200" dirty="0">
                <a:solidFill>
                  <a:schemeClr val="accent4">
                    <a:lumMod val="75000"/>
                  </a:schemeClr>
                </a:solidFill>
                <a:latin typeface="Arial" panose="020B0604020202020204" pitchFamily="34" charset="0"/>
                <a:cs typeface="Arial" panose="020B0604020202020204" pitchFamily="34" charset="0"/>
              </a:rPr>
              <a:t>Hypertension and Diabetes Mellitus are common across all blood types.</a:t>
            </a:r>
          </a:p>
          <a:p>
            <a:pPr algn="just">
              <a:buFont typeface="Arial" panose="020B0604020202020204" pitchFamily="34" charset="0"/>
              <a:buChar char="•"/>
            </a:pPr>
            <a:r>
              <a:rPr lang="en-US" sz="1200" dirty="0">
                <a:solidFill>
                  <a:schemeClr val="accent4">
                    <a:lumMod val="75000"/>
                  </a:schemeClr>
                </a:solidFill>
                <a:latin typeface="Arial" panose="020B0604020202020204" pitchFamily="34" charset="0"/>
                <a:cs typeface="Arial" panose="020B0604020202020204" pitchFamily="34" charset="0"/>
              </a:rPr>
              <a:t>Ischemic Heart Disease is evenly spread, with slightly higher numbers in B+ and O+ blood groups.</a:t>
            </a:r>
          </a:p>
        </p:txBody>
      </p:sp>
      <p:sp>
        <p:nvSpPr>
          <p:cNvPr id="2" name="Google Shape;86;p16">
            <a:extLst>
              <a:ext uri="{FF2B5EF4-FFF2-40B4-BE49-F238E27FC236}">
                <a16:creationId xmlns:a16="http://schemas.microsoft.com/office/drawing/2014/main" id="{8864401D-DAB7-2BF7-CBF5-50196EB90115}"/>
              </a:ext>
            </a:extLst>
          </p:cNvPr>
          <p:cNvSpPr txBox="1">
            <a:spLocks/>
          </p:cNvSpPr>
          <p:nvPr/>
        </p:nvSpPr>
        <p:spPr>
          <a:xfrm>
            <a:off x="311700" y="498089"/>
            <a:ext cx="8669815" cy="72060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algn="just">
              <a:buNone/>
            </a:pPr>
            <a:r>
              <a:rPr lang="en-US" sz="1400" b="1" dirty="0">
                <a:solidFill>
                  <a:schemeClr val="accent4">
                    <a:lumMod val="75000"/>
                  </a:schemeClr>
                </a:solidFill>
                <a:latin typeface="+mj-lt"/>
              </a:rPr>
              <a:t>📌 Objective:</a:t>
            </a:r>
          </a:p>
          <a:p>
            <a:pPr marL="114300" indent="0" algn="just">
              <a:buNone/>
            </a:pPr>
            <a:r>
              <a:rPr lang="en-US" sz="1400" b="1" dirty="0">
                <a:solidFill>
                  <a:schemeClr val="accent4">
                    <a:lumMod val="75000"/>
                  </a:schemeClr>
                </a:solidFill>
                <a:latin typeface="+mn-lt"/>
              </a:rPr>
              <a:t>To analyze the distribution of key health conditions across different blood groups to identify any potential patterns or correlations.</a:t>
            </a:r>
          </a:p>
        </p:txBody>
      </p:sp>
      <p:sp>
        <p:nvSpPr>
          <p:cNvPr id="4" name="Google Shape;86;p16">
            <a:extLst>
              <a:ext uri="{FF2B5EF4-FFF2-40B4-BE49-F238E27FC236}">
                <a16:creationId xmlns:a16="http://schemas.microsoft.com/office/drawing/2014/main" id="{D56C8297-EC56-25C0-23F6-8DCCDBC13F14}"/>
              </a:ext>
            </a:extLst>
          </p:cNvPr>
          <p:cNvSpPr txBox="1">
            <a:spLocks/>
          </p:cNvSpPr>
          <p:nvPr/>
        </p:nvSpPr>
        <p:spPr>
          <a:xfrm>
            <a:off x="326036" y="3783981"/>
            <a:ext cx="4082413" cy="96850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algn="just">
              <a:buNone/>
            </a:pPr>
            <a:r>
              <a:rPr lang="en-US" sz="1200" b="1" dirty="0">
                <a:solidFill>
                  <a:schemeClr val="accent4">
                    <a:lumMod val="75000"/>
                  </a:schemeClr>
                </a:solidFill>
              </a:rPr>
              <a:t>🧠 Interpretation:</a:t>
            </a:r>
          </a:p>
          <a:p>
            <a:pPr algn="just">
              <a:buFont typeface="Arial" panose="020B0604020202020204" pitchFamily="34" charset="0"/>
              <a:buChar char="•"/>
            </a:pPr>
            <a:r>
              <a:rPr lang="en-US" sz="1200" dirty="0">
                <a:solidFill>
                  <a:schemeClr val="accent4">
                    <a:lumMod val="75000"/>
                  </a:schemeClr>
                </a:solidFill>
                <a:latin typeface="Arial" panose="020B0604020202020204" pitchFamily="34" charset="0"/>
                <a:cs typeface="Arial" panose="020B0604020202020204" pitchFamily="34" charset="0"/>
              </a:rPr>
              <a:t>There are no extreme outliers, but conditions like Asthma and Chronic Kidney Disease are more common in A+ and AB+ blood groups. This could help in providing personalized care or monitoring risks based on blood type.</a:t>
            </a:r>
          </a:p>
        </p:txBody>
      </p:sp>
      <p:pic>
        <p:nvPicPr>
          <p:cNvPr id="6" name="Picture 5">
            <a:extLst>
              <a:ext uri="{FF2B5EF4-FFF2-40B4-BE49-F238E27FC236}">
                <a16:creationId xmlns:a16="http://schemas.microsoft.com/office/drawing/2014/main" id="{156D5305-F08E-B416-5DEB-F5A2E4DC648F}"/>
              </a:ext>
            </a:extLst>
          </p:cNvPr>
          <p:cNvPicPr>
            <a:picLocks noChangeAspect="1"/>
          </p:cNvPicPr>
          <p:nvPr/>
        </p:nvPicPr>
        <p:blipFill>
          <a:blip r:embed="rId3"/>
          <a:stretch>
            <a:fillRect/>
          </a:stretch>
        </p:blipFill>
        <p:spPr>
          <a:xfrm>
            <a:off x="4408449" y="1054168"/>
            <a:ext cx="4573066" cy="3882105"/>
          </a:xfrm>
          <a:prstGeom prst="rect">
            <a:avLst/>
          </a:prstGeom>
        </p:spPr>
      </p:pic>
    </p:spTree>
    <p:extLst>
      <p:ext uri="{BB962C8B-B14F-4D97-AF65-F5344CB8AC3E}">
        <p14:creationId xmlns:p14="http://schemas.microsoft.com/office/powerpoint/2010/main" val="129036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A730AABA-F8B2-E33C-CDAB-D24F629BDCBB}"/>
            </a:ext>
          </a:extLst>
        </p:cNvPr>
        <p:cNvGrpSpPr/>
        <p:nvPr/>
      </p:nvGrpSpPr>
      <p:grpSpPr>
        <a:xfrm>
          <a:off x="0" y="0"/>
          <a:ext cx="0" cy="0"/>
          <a:chOff x="0" y="0"/>
          <a:chExt cx="0" cy="0"/>
        </a:xfrm>
      </p:grpSpPr>
      <p:sp>
        <p:nvSpPr>
          <p:cNvPr id="85" name="Google Shape;85;p16">
            <a:extLst>
              <a:ext uri="{FF2B5EF4-FFF2-40B4-BE49-F238E27FC236}">
                <a16:creationId xmlns:a16="http://schemas.microsoft.com/office/drawing/2014/main" id="{4BBA1CA0-2204-7AAC-345A-D6542E72BCC0}"/>
              </a:ext>
            </a:extLst>
          </p:cNvPr>
          <p:cNvSpPr txBox="1">
            <a:spLocks noGrp="1"/>
          </p:cNvSpPr>
          <p:nvPr>
            <p:ph type="title"/>
          </p:nvPr>
        </p:nvSpPr>
        <p:spPr>
          <a:xfrm>
            <a:off x="311700" y="-222513"/>
            <a:ext cx="8520600" cy="720601"/>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400" dirty="0">
                <a:solidFill>
                  <a:schemeClr val="accent4">
                    <a:lumMod val="75000"/>
                  </a:schemeClr>
                </a:solidFill>
                <a:latin typeface="+mj-lt"/>
              </a:rPr>
              <a:t>HealthCare Data Insights – Patient Trends &amp; Outcomes</a:t>
            </a:r>
            <a:endParaRPr sz="2400" dirty="0">
              <a:solidFill>
                <a:schemeClr val="accent4">
                  <a:lumMod val="75000"/>
                </a:schemeClr>
              </a:solidFill>
              <a:latin typeface="+mj-lt"/>
            </a:endParaRPr>
          </a:p>
        </p:txBody>
      </p:sp>
      <p:sp>
        <p:nvSpPr>
          <p:cNvPr id="86" name="Google Shape;86;p16">
            <a:extLst>
              <a:ext uri="{FF2B5EF4-FFF2-40B4-BE49-F238E27FC236}">
                <a16:creationId xmlns:a16="http://schemas.microsoft.com/office/drawing/2014/main" id="{D8C5A301-81FF-25E4-08A6-41A818ADBC76}"/>
              </a:ext>
            </a:extLst>
          </p:cNvPr>
          <p:cNvSpPr txBox="1">
            <a:spLocks noGrp="1"/>
          </p:cNvSpPr>
          <p:nvPr>
            <p:ph type="body" idx="1"/>
          </p:nvPr>
        </p:nvSpPr>
        <p:spPr>
          <a:xfrm>
            <a:off x="5497284" y="1523999"/>
            <a:ext cx="3234388" cy="1903142"/>
          </a:xfrm>
          <a:prstGeom prst="rect">
            <a:avLst/>
          </a:prstGeom>
        </p:spPr>
        <p:txBody>
          <a:bodyPr spcFirstLastPara="1" wrap="square" lIns="91425" tIns="91425" rIns="91425" bIns="91425" anchor="ctr" anchorCtr="0">
            <a:noAutofit/>
          </a:bodyPr>
          <a:lstStyle/>
          <a:p>
            <a:pPr algn="just">
              <a:buNone/>
            </a:pPr>
            <a:r>
              <a:rPr lang="en-IN" sz="1200" b="1" dirty="0">
                <a:solidFill>
                  <a:schemeClr val="accent4">
                    <a:lumMod val="75000"/>
                  </a:schemeClr>
                </a:solidFill>
                <a:latin typeface="+mj-lt"/>
              </a:rPr>
              <a:t>📊 Dashboard Highlights:</a:t>
            </a:r>
          </a:p>
          <a:p>
            <a:pPr marL="114300" indent="0" algn="just">
              <a:buNone/>
            </a:pPr>
            <a:r>
              <a:rPr lang="en-IN" sz="1200" dirty="0">
                <a:solidFill>
                  <a:schemeClr val="accent4">
                    <a:lumMod val="75000"/>
                  </a:schemeClr>
                </a:solidFill>
                <a:latin typeface="+mj-lt"/>
              </a:rPr>
              <a:t>👥 </a:t>
            </a:r>
            <a:r>
              <a:rPr lang="en-IN" sz="1200" b="1" dirty="0">
                <a:solidFill>
                  <a:schemeClr val="accent4">
                    <a:lumMod val="75000"/>
                  </a:schemeClr>
                </a:solidFill>
                <a:latin typeface="+mj-lt"/>
              </a:rPr>
              <a:t>Total Patients:</a:t>
            </a:r>
            <a:r>
              <a:rPr lang="en-IN" sz="1200" dirty="0">
                <a:solidFill>
                  <a:schemeClr val="accent4">
                    <a:lumMod val="75000"/>
                  </a:schemeClr>
                </a:solidFill>
                <a:latin typeface="+mj-lt"/>
              </a:rPr>
              <a:t> 6,000</a:t>
            </a:r>
          </a:p>
          <a:p>
            <a:pPr marL="114300" indent="0" algn="just">
              <a:buNone/>
            </a:pPr>
            <a:r>
              <a:rPr lang="en-IN" sz="1200" dirty="0">
                <a:solidFill>
                  <a:schemeClr val="accent4">
                    <a:lumMod val="75000"/>
                  </a:schemeClr>
                </a:solidFill>
                <a:latin typeface="+mj-lt"/>
              </a:rPr>
              <a:t>👨‍⚕️ </a:t>
            </a:r>
            <a:r>
              <a:rPr lang="en-IN" sz="1200" b="1" dirty="0">
                <a:solidFill>
                  <a:schemeClr val="accent4">
                    <a:lumMod val="75000"/>
                  </a:schemeClr>
                </a:solidFill>
                <a:latin typeface="+mj-lt"/>
              </a:rPr>
              <a:t>Male Patients:</a:t>
            </a:r>
            <a:r>
              <a:rPr lang="en-IN" sz="1200" dirty="0">
                <a:solidFill>
                  <a:schemeClr val="accent4">
                    <a:lumMod val="75000"/>
                  </a:schemeClr>
                </a:solidFill>
                <a:latin typeface="+mj-lt"/>
              </a:rPr>
              <a:t> 2,699  </a:t>
            </a:r>
          </a:p>
          <a:p>
            <a:pPr marL="114300" indent="0" algn="just">
              <a:buNone/>
            </a:pPr>
            <a:r>
              <a:rPr lang="en-IN" sz="1200" dirty="0">
                <a:solidFill>
                  <a:schemeClr val="accent4">
                    <a:lumMod val="75000"/>
                  </a:schemeClr>
                </a:solidFill>
                <a:latin typeface="+mj-lt"/>
              </a:rPr>
              <a:t>👩‍⚕️ </a:t>
            </a:r>
            <a:r>
              <a:rPr lang="en-IN" sz="1200" b="1" dirty="0">
                <a:solidFill>
                  <a:schemeClr val="accent4">
                    <a:lumMod val="75000"/>
                  </a:schemeClr>
                </a:solidFill>
                <a:latin typeface="+mj-lt"/>
              </a:rPr>
              <a:t>Female Patients:</a:t>
            </a:r>
            <a:r>
              <a:rPr lang="en-IN" sz="1200" dirty="0">
                <a:solidFill>
                  <a:schemeClr val="accent4">
                    <a:lumMod val="75000"/>
                  </a:schemeClr>
                </a:solidFill>
                <a:latin typeface="+mj-lt"/>
              </a:rPr>
              <a:t> 2,692</a:t>
            </a:r>
          </a:p>
          <a:p>
            <a:pPr marL="114300" indent="0" algn="just">
              <a:buNone/>
            </a:pPr>
            <a:r>
              <a:rPr lang="en-IN" sz="1200" dirty="0">
                <a:solidFill>
                  <a:schemeClr val="accent4">
                    <a:lumMod val="75000"/>
                  </a:schemeClr>
                </a:solidFill>
                <a:latin typeface="+mj-lt"/>
              </a:rPr>
              <a:t>👶 </a:t>
            </a:r>
            <a:r>
              <a:rPr lang="en-IN" sz="1200" b="1" dirty="0">
                <a:solidFill>
                  <a:schemeClr val="accent4">
                    <a:lumMod val="75000"/>
                  </a:schemeClr>
                </a:solidFill>
                <a:latin typeface="+mj-lt"/>
              </a:rPr>
              <a:t>Average Age:</a:t>
            </a:r>
            <a:r>
              <a:rPr lang="en-IN" sz="1200" dirty="0">
                <a:solidFill>
                  <a:schemeClr val="accent4">
                    <a:lumMod val="75000"/>
                  </a:schemeClr>
                </a:solidFill>
                <a:latin typeface="+mj-lt"/>
              </a:rPr>
              <a:t> 49.81 years</a:t>
            </a:r>
          </a:p>
          <a:p>
            <a:pPr marL="114300" indent="0" algn="just">
              <a:buNone/>
            </a:pPr>
            <a:r>
              <a:rPr lang="en-IN" sz="1200" dirty="0">
                <a:solidFill>
                  <a:schemeClr val="accent4">
                    <a:lumMod val="75000"/>
                  </a:schemeClr>
                </a:solidFill>
                <a:latin typeface="+mj-lt"/>
              </a:rPr>
              <a:t>🕒 </a:t>
            </a:r>
            <a:r>
              <a:rPr lang="en-IN" sz="1200" b="1" dirty="0">
                <a:solidFill>
                  <a:schemeClr val="accent4">
                    <a:lumMod val="75000"/>
                  </a:schemeClr>
                </a:solidFill>
                <a:latin typeface="+mj-lt"/>
              </a:rPr>
              <a:t>Average Length of Stay:</a:t>
            </a:r>
            <a:r>
              <a:rPr lang="en-IN" sz="1200" dirty="0">
                <a:solidFill>
                  <a:schemeClr val="accent4">
                    <a:lumMod val="75000"/>
                  </a:schemeClr>
                </a:solidFill>
                <a:latin typeface="+mj-lt"/>
              </a:rPr>
              <a:t> 63.41 days</a:t>
            </a:r>
          </a:p>
          <a:p>
            <a:pPr marL="114300" indent="0" algn="just">
              <a:buNone/>
            </a:pPr>
            <a:r>
              <a:rPr lang="en-IN" sz="1200" dirty="0">
                <a:solidFill>
                  <a:schemeClr val="accent4">
                    <a:lumMod val="75000"/>
                  </a:schemeClr>
                </a:solidFill>
                <a:latin typeface="+mj-lt"/>
              </a:rPr>
              <a:t>💰 </a:t>
            </a:r>
            <a:r>
              <a:rPr lang="en-IN" sz="1200" b="1" dirty="0">
                <a:solidFill>
                  <a:schemeClr val="accent4">
                    <a:lumMod val="75000"/>
                  </a:schemeClr>
                </a:solidFill>
                <a:latin typeface="+mj-lt"/>
              </a:rPr>
              <a:t>Average Treatment Cost:</a:t>
            </a:r>
            <a:r>
              <a:rPr lang="en-IN" sz="1200" dirty="0">
                <a:solidFill>
                  <a:schemeClr val="accent4">
                    <a:lumMod val="75000"/>
                  </a:schemeClr>
                </a:solidFill>
                <a:latin typeface="+mj-lt"/>
              </a:rPr>
              <a:t> $49,959</a:t>
            </a:r>
          </a:p>
        </p:txBody>
      </p:sp>
      <p:sp>
        <p:nvSpPr>
          <p:cNvPr id="2" name="Google Shape;86;p16">
            <a:extLst>
              <a:ext uri="{FF2B5EF4-FFF2-40B4-BE49-F238E27FC236}">
                <a16:creationId xmlns:a16="http://schemas.microsoft.com/office/drawing/2014/main" id="{22031EF1-0821-6CBB-29D1-4617EB6926C1}"/>
              </a:ext>
            </a:extLst>
          </p:cNvPr>
          <p:cNvSpPr txBox="1">
            <a:spLocks/>
          </p:cNvSpPr>
          <p:nvPr/>
        </p:nvSpPr>
        <p:spPr>
          <a:xfrm>
            <a:off x="311700" y="498088"/>
            <a:ext cx="8669815" cy="102591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algn="just">
              <a:buNone/>
            </a:pPr>
            <a:r>
              <a:rPr lang="en-US" sz="1400" b="1" dirty="0">
                <a:solidFill>
                  <a:schemeClr val="accent4">
                    <a:lumMod val="75000"/>
                  </a:schemeClr>
                </a:solidFill>
                <a:latin typeface="+mj-lt"/>
              </a:rPr>
              <a:t>📌 Objective:</a:t>
            </a:r>
          </a:p>
          <a:p>
            <a:pPr marL="457200" lvl="1" indent="0" algn="just">
              <a:buNone/>
            </a:pPr>
            <a:r>
              <a:rPr lang="en-US" sz="1200" dirty="0">
                <a:solidFill>
                  <a:schemeClr val="accent4">
                    <a:lumMod val="75000"/>
                  </a:schemeClr>
                </a:solidFill>
                <a:latin typeface="+mj-lt"/>
              </a:rPr>
              <a:t>To understand patient trends by analyzing top health conditions, department workload, age and gender distribution, and treatment patterns. This helps in planning resources and improving healthcare services.</a:t>
            </a:r>
          </a:p>
        </p:txBody>
      </p:sp>
      <p:sp>
        <p:nvSpPr>
          <p:cNvPr id="7" name="Google Shape;86;p16">
            <a:extLst>
              <a:ext uri="{FF2B5EF4-FFF2-40B4-BE49-F238E27FC236}">
                <a16:creationId xmlns:a16="http://schemas.microsoft.com/office/drawing/2014/main" id="{FF845C16-6DA3-C3B1-ED16-48BF2FB930B0}"/>
              </a:ext>
            </a:extLst>
          </p:cNvPr>
          <p:cNvSpPr txBox="1">
            <a:spLocks/>
          </p:cNvSpPr>
          <p:nvPr/>
        </p:nvSpPr>
        <p:spPr>
          <a:xfrm>
            <a:off x="412328" y="1315844"/>
            <a:ext cx="4851580" cy="362042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lgn="just">
              <a:buNone/>
            </a:pPr>
            <a:r>
              <a:rPr lang="en-US" sz="1200" b="1" dirty="0">
                <a:solidFill>
                  <a:schemeClr val="accent4">
                    <a:lumMod val="75000"/>
                  </a:schemeClr>
                </a:solidFill>
                <a:latin typeface="+mj-lt"/>
              </a:rPr>
              <a:t>📌 Key Insights:</a:t>
            </a:r>
          </a:p>
          <a:p>
            <a:pPr marL="114300" indent="0" algn="just">
              <a:buNone/>
            </a:pPr>
            <a:r>
              <a:rPr lang="en-US" sz="1200" b="1" dirty="0">
                <a:solidFill>
                  <a:schemeClr val="accent4">
                    <a:lumMod val="75000"/>
                  </a:schemeClr>
                </a:solidFill>
                <a:latin typeface="+mj-lt"/>
              </a:rPr>
              <a:t>Top Diagnoses:</a:t>
            </a:r>
            <a:endParaRPr lang="en-US" sz="1200" dirty="0">
              <a:solidFill>
                <a:schemeClr val="accent4">
                  <a:lumMod val="75000"/>
                </a:schemeClr>
              </a:solidFill>
              <a:latin typeface="+mj-lt"/>
            </a:endParaRPr>
          </a:p>
          <a:p>
            <a:pPr marL="457200" lvl="1" indent="0" algn="just">
              <a:buNone/>
            </a:pPr>
            <a:r>
              <a:rPr lang="en-US" sz="1200" dirty="0">
                <a:solidFill>
                  <a:schemeClr val="accent4">
                    <a:lumMod val="75000"/>
                  </a:schemeClr>
                </a:solidFill>
                <a:latin typeface="+mj-lt"/>
              </a:rPr>
              <a:t>Diabetes (1,036)</a:t>
            </a:r>
          </a:p>
          <a:p>
            <a:pPr marL="457200" lvl="1" indent="0" algn="just">
              <a:buNone/>
            </a:pPr>
            <a:r>
              <a:rPr lang="en-US" sz="1200" dirty="0">
                <a:solidFill>
                  <a:schemeClr val="accent4">
                    <a:lumMod val="75000"/>
                  </a:schemeClr>
                </a:solidFill>
                <a:latin typeface="+mj-lt"/>
              </a:rPr>
              <a:t>Hypertension (1,027)</a:t>
            </a:r>
          </a:p>
          <a:p>
            <a:pPr marL="457200" lvl="1" indent="0" algn="just">
              <a:buNone/>
            </a:pPr>
            <a:r>
              <a:rPr lang="en-US" sz="1200" dirty="0">
                <a:solidFill>
                  <a:schemeClr val="accent4">
                    <a:lumMod val="75000"/>
                  </a:schemeClr>
                </a:solidFill>
                <a:latin typeface="+mj-lt"/>
              </a:rPr>
              <a:t>Chronic Kidney Disease (1,003)</a:t>
            </a:r>
          </a:p>
          <a:p>
            <a:pPr marL="457200" lvl="1" indent="0" algn="just">
              <a:buNone/>
            </a:pPr>
            <a:r>
              <a:rPr lang="en-US" sz="1200" dirty="0">
                <a:solidFill>
                  <a:schemeClr val="accent4">
                    <a:lumMod val="75000"/>
                  </a:schemeClr>
                </a:solidFill>
                <a:latin typeface="+mj-lt"/>
              </a:rPr>
              <a:t>Asthma (959)</a:t>
            </a:r>
          </a:p>
          <a:p>
            <a:pPr marL="457200" lvl="1" indent="0" algn="just">
              <a:buNone/>
            </a:pPr>
            <a:r>
              <a:rPr lang="en-US" sz="1200" dirty="0">
                <a:solidFill>
                  <a:schemeClr val="accent4">
                    <a:lumMod val="75000"/>
                  </a:schemeClr>
                </a:solidFill>
                <a:latin typeface="+mj-lt"/>
              </a:rPr>
              <a:t>Heart Disease (975)</a:t>
            </a:r>
          </a:p>
          <a:p>
            <a:pPr marL="114300" indent="0" algn="just">
              <a:buNone/>
            </a:pPr>
            <a:r>
              <a:rPr lang="en-US" sz="1200" b="1" dirty="0">
                <a:solidFill>
                  <a:schemeClr val="accent4">
                    <a:lumMod val="75000"/>
                  </a:schemeClr>
                </a:solidFill>
                <a:latin typeface="+mj-lt"/>
              </a:rPr>
              <a:t>Department Trends:</a:t>
            </a:r>
            <a:endParaRPr lang="en-US" sz="1200" dirty="0">
              <a:solidFill>
                <a:schemeClr val="accent4">
                  <a:lumMod val="75000"/>
                </a:schemeClr>
              </a:solidFill>
              <a:latin typeface="+mj-lt"/>
            </a:endParaRPr>
          </a:p>
          <a:p>
            <a:pPr marL="457200" lvl="1" indent="0" algn="just">
              <a:buNone/>
            </a:pPr>
            <a:r>
              <a:rPr lang="en-US" sz="1200" dirty="0">
                <a:solidFill>
                  <a:schemeClr val="accent4">
                    <a:lumMod val="75000"/>
                  </a:schemeClr>
                </a:solidFill>
                <a:latin typeface="+mj-lt"/>
              </a:rPr>
              <a:t>Highest patient count in </a:t>
            </a:r>
            <a:r>
              <a:rPr lang="en-US" sz="1200" b="1" dirty="0">
                <a:solidFill>
                  <a:schemeClr val="accent4">
                    <a:lumMod val="75000"/>
                  </a:schemeClr>
                </a:solidFill>
                <a:latin typeface="+mj-lt"/>
              </a:rPr>
              <a:t>Pediatrics</a:t>
            </a:r>
            <a:r>
              <a:rPr lang="en-US" sz="1200" dirty="0">
                <a:solidFill>
                  <a:schemeClr val="accent4">
                    <a:lumMod val="75000"/>
                  </a:schemeClr>
                </a:solidFill>
                <a:latin typeface="+mj-lt"/>
              </a:rPr>
              <a:t> (717)</a:t>
            </a:r>
          </a:p>
          <a:p>
            <a:pPr marL="457200" lvl="1" indent="0" algn="just">
              <a:buNone/>
            </a:pPr>
            <a:r>
              <a:rPr lang="en-US" sz="1200" dirty="0">
                <a:solidFill>
                  <a:schemeClr val="accent4">
                    <a:lumMod val="75000"/>
                  </a:schemeClr>
                </a:solidFill>
                <a:latin typeface="+mj-lt"/>
              </a:rPr>
              <a:t>Highest billing in </a:t>
            </a:r>
            <a:r>
              <a:rPr lang="en-US" sz="1200" b="1" dirty="0">
                <a:solidFill>
                  <a:schemeClr val="accent4">
                    <a:lumMod val="75000"/>
                  </a:schemeClr>
                </a:solidFill>
                <a:latin typeface="+mj-lt"/>
              </a:rPr>
              <a:t>General Medicine</a:t>
            </a:r>
            <a:r>
              <a:rPr lang="en-US" sz="1200" dirty="0">
                <a:solidFill>
                  <a:schemeClr val="accent4">
                    <a:lumMod val="75000"/>
                  </a:schemeClr>
                </a:solidFill>
                <a:latin typeface="+mj-lt"/>
              </a:rPr>
              <a:t> ($56.57L)</a:t>
            </a:r>
          </a:p>
          <a:p>
            <a:pPr marL="114300" indent="0" algn="just">
              <a:buNone/>
            </a:pPr>
            <a:r>
              <a:rPr lang="en-US" sz="1200" b="1" dirty="0">
                <a:solidFill>
                  <a:schemeClr val="accent4">
                    <a:lumMod val="75000"/>
                  </a:schemeClr>
                </a:solidFill>
                <a:latin typeface="+mj-lt"/>
              </a:rPr>
              <a:t>Age Group with Highest Patients:</a:t>
            </a:r>
            <a:r>
              <a:rPr lang="en-US" sz="1200" dirty="0">
                <a:solidFill>
                  <a:schemeClr val="accent4">
                    <a:lumMod val="75000"/>
                  </a:schemeClr>
                </a:solidFill>
                <a:latin typeface="+mj-lt"/>
              </a:rPr>
              <a:t> 50 years (948 patients)</a:t>
            </a:r>
          </a:p>
          <a:p>
            <a:pPr marL="114300" indent="0" algn="just">
              <a:buNone/>
            </a:pPr>
            <a:r>
              <a:rPr lang="en-US" sz="1200" b="1" dirty="0">
                <a:solidFill>
                  <a:schemeClr val="accent4">
                    <a:lumMod val="75000"/>
                  </a:schemeClr>
                </a:solidFill>
                <a:latin typeface="+mj-lt"/>
              </a:rPr>
              <a:t>Gender Balance:</a:t>
            </a:r>
            <a:r>
              <a:rPr lang="en-US" sz="1200" dirty="0">
                <a:solidFill>
                  <a:schemeClr val="accent4">
                    <a:lumMod val="75000"/>
                  </a:schemeClr>
                </a:solidFill>
                <a:latin typeface="+mj-lt"/>
              </a:rPr>
              <a:t> Male and Female patients are nearly equal</a:t>
            </a:r>
          </a:p>
          <a:p>
            <a:pPr marL="114300" indent="0" algn="just">
              <a:buNone/>
            </a:pPr>
            <a:r>
              <a:rPr lang="en-US" sz="1200" b="1" dirty="0">
                <a:solidFill>
                  <a:schemeClr val="accent4">
                    <a:lumMod val="75000"/>
                  </a:schemeClr>
                </a:solidFill>
                <a:latin typeface="+mj-lt"/>
              </a:rPr>
              <a:t>Patient Flow Trend:</a:t>
            </a:r>
            <a:r>
              <a:rPr lang="en-US" sz="1200" dirty="0">
                <a:solidFill>
                  <a:schemeClr val="accent4">
                    <a:lumMod val="75000"/>
                  </a:schemeClr>
                </a:solidFill>
                <a:latin typeface="+mj-lt"/>
              </a:rPr>
              <a:t> Steady distribution across all quarters</a:t>
            </a:r>
          </a:p>
        </p:txBody>
      </p:sp>
    </p:spTree>
    <p:extLst>
      <p:ext uri="{BB962C8B-B14F-4D97-AF65-F5344CB8AC3E}">
        <p14:creationId xmlns:p14="http://schemas.microsoft.com/office/powerpoint/2010/main" val="3910206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4FC976AE-5165-8F73-2D18-F81A0B5CA5E4}"/>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E7E932A2-1761-CBC0-E209-829708A1FCC9}"/>
              </a:ext>
            </a:extLst>
          </p:cNvPr>
          <p:cNvPicPr>
            <a:picLocks noChangeAspect="1"/>
          </p:cNvPicPr>
          <p:nvPr/>
        </p:nvPicPr>
        <p:blipFill>
          <a:blip r:embed="rId3"/>
          <a:stretch>
            <a:fillRect/>
          </a:stretch>
        </p:blipFill>
        <p:spPr>
          <a:xfrm>
            <a:off x="0" y="1"/>
            <a:ext cx="9091961" cy="5047784"/>
          </a:xfrm>
          <a:prstGeom prst="rect">
            <a:avLst/>
          </a:prstGeom>
        </p:spPr>
      </p:pic>
    </p:spTree>
    <p:extLst>
      <p:ext uri="{BB962C8B-B14F-4D97-AF65-F5344CB8AC3E}">
        <p14:creationId xmlns:p14="http://schemas.microsoft.com/office/powerpoint/2010/main" val="3771213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7648F60E-8AAF-21C6-B12D-E68AA7CCBC2C}"/>
            </a:ext>
          </a:extLst>
        </p:cNvPr>
        <p:cNvGrpSpPr/>
        <p:nvPr/>
      </p:nvGrpSpPr>
      <p:grpSpPr>
        <a:xfrm>
          <a:off x="0" y="0"/>
          <a:ext cx="0" cy="0"/>
          <a:chOff x="0" y="0"/>
          <a:chExt cx="0" cy="0"/>
        </a:xfrm>
      </p:grpSpPr>
      <p:sp>
        <p:nvSpPr>
          <p:cNvPr id="85" name="Google Shape;85;p16">
            <a:extLst>
              <a:ext uri="{FF2B5EF4-FFF2-40B4-BE49-F238E27FC236}">
                <a16:creationId xmlns:a16="http://schemas.microsoft.com/office/drawing/2014/main" id="{68A124D3-8F69-2B01-46A8-896FEAB3BE1E}"/>
              </a:ext>
            </a:extLst>
          </p:cNvPr>
          <p:cNvSpPr txBox="1">
            <a:spLocks noGrp="1"/>
          </p:cNvSpPr>
          <p:nvPr>
            <p:ph type="title"/>
          </p:nvPr>
        </p:nvSpPr>
        <p:spPr>
          <a:xfrm>
            <a:off x="311700" y="-260194"/>
            <a:ext cx="8520600" cy="579862"/>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IN" sz="2800" dirty="0">
                <a:solidFill>
                  <a:schemeClr val="accent4">
                    <a:lumMod val="75000"/>
                  </a:schemeClr>
                </a:solidFill>
                <a:latin typeface="+mj-lt"/>
              </a:rPr>
              <a:t>Storytelling Summary &amp; Key Takeaways</a:t>
            </a:r>
            <a:endParaRPr sz="2800" dirty="0">
              <a:solidFill>
                <a:schemeClr val="accent4">
                  <a:lumMod val="75000"/>
                </a:schemeClr>
              </a:solidFill>
              <a:latin typeface="+mj-lt"/>
            </a:endParaRPr>
          </a:p>
        </p:txBody>
      </p:sp>
      <p:sp>
        <p:nvSpPr>
          <p:cNvPr id="86" name="Google Shape;86;p16">
            <a:extLst>
              <a:ext uri="{FF2B5EF4-FFF2-40B4-BE49-F238E27FC236}">
                <a16:creationId xmlns:a16="http://schemas.microsoft.com/office/drawing/2014/main" id="{2D427B28-A0C9-ACD7-098F-780966B37450}"/>
              </a:ext>
            </a:extLst>
          </p:cNvPr>
          <p:cNvSpPr txBox="1">
            <a:spLocks noGrp="1"/>
          </p:cNvSpPr>
          <p:nvPr>
            <p:ph type="body" idx="1"/>
          </p:nvPr>
        </p:nvSpPr>
        <p:spPr>
          <a:xfrm>
            <a:off x="4668644" y="1196899"/>
            <a:ext cx="4018424" cy="1449658"/>
          </a:xfrm>
          <a:prstGeom prst="rect">
            <a:avLst/>
          </a:prstGeom>
        </p:spPr>
        <p:txBody>
          <a:bodyPr spcFirstLastPara="1" wrap="square" lIns="91425" tIns="91425" rIns="91425" bIns="91425" anchor="ctr" anchorCtr="0">
            <a:noAutofit/>
          </a:bodyPr>
          <a:lstStyle/>
          <a:p>
            <a:pPr marL="628650" lvl="1" indent="-171450">
              <a:buFont typeface="Wingdings" panose="05000000000000000000" pitchFamily="2" charset="2"/>
              <a:buChar char="v"/>
            </a:pPr>
            <a:endParaRPr lang="en-US" sz="1100" dirty="0">
              <a:solidFill>
                <a:schemeClr val="accent4">
                  <a:lumMod val="75000"/>
                </a:schemeClr>
              </a:solidFill>
              <a:latin typeface="+mj-lt"/>
            </a:endParaRPr>
          </a:p>
          <a:p>
            <a:pPr>
              <a:buFont typeface="Wingdings" panose="05000000000000000000" pitchFamily="2" charset="2"/>
              <a:buChar char="v"/>
            </a:pPr>
            <a:r>
              <a:rPr lang="en-US" sz="1100" b="1" dirty="0">
                <a:solidFill>
                  <a:schemeClr val="accent4">
                    <a:lumMod val="75000"/>
                  </a:schemeClr>
                </a:solidFill>
                <a:latin typeface="+mj-lt"/>
              </a:rPr>
              <a:t>Departments with Highest Impact</a:t>
            </a:r>
            <a:r>
              <a:rPr lang="en-US" sz="1100" dirty="0">
                <a:solidFill>
                  <a:schemeClr val="accent4">
                    <a:lumMod val="75000"/>
                  </a:schemeClr>
                </a:solidFill>
                <a:latin typeface="+mj-lt"/>
              </a:rPr>
              <a:t>:</a:t>
            </a:r>
          </a:p>
          <a:p>
            <a:pPr marL="628650" lvl="1" indent="-171450">
              <a:buFont typeface="Wingdings" panose="05000000000000000000" pitchFamily="2" charset="2"/>
              <a:buChar char="v"/>
            </a:pPr>
            <a:r>
              <a:rPr lang="en-US" sz="1100" b="1" dirty="0">
                <a:solidFill>
                  <a:schemeClr val="accent4">
                    <a:lumMod val="75000"/>
                  </a:schemeClr>
                </a:solidFill>
                <a:latin typeface="+mj-lt"/>
              </a:rPr>
              <a:t>Highest Billing</a:t>
            </a:r>
            <a:r>
              <a:rPr lang="en-US" sz="1100" dirty="0">
                <a:solidFill>
                  <a:schemeClr val="accent4">
                    <a:lumMod val="75000"/>
                  </a:schemeClr>
                </a:solidFill>
                <a:latin typeface="+mj-lt"/>
              </a:rPr>
              <a:t>: General Medicine – </a:t>
            </a:r>
            <a:r>
              <a:rPr lang="en-US" sz="1100" b="1" dirty="0">
                <a:solidFill>
                  <a:schemeClr val="accent4">
                    <a:lumMod val="75000"/>
                  </a:schemeClr>
                </a:solidFill>
                <a:latin typeface="+mj-lt"/>
              </a:rPr>
              <a:t>$56.57 million</a:t>
            </a:r>
            <a:endParaRPr lang="en-US" sz="1100" dirty="0">
              <a:solidFill>
                <a:schemeClr val="accent4">
                  <a:lumMod val="75000"/>
                </a:schemeClr>
              </a:solidFill>
              <a:latin typeface="+mj-lt"/>
            </a:endParaRPr>
          </a:p>
          <a:p>
            <a:pPr marL="628650" lvl="1" indent="-171450">
              <a:buFont typeface="Wingdings" panose="05000000000000000000" pitchFamily="2" charset="2"/>
              <a:buChar char="v"/>
            </a:pPr>
            <a:r>
              <a:rPr lang="en-US" sz="1100" b="1" dirty="0">
                <a:solidFill>
                  <a:schemeClr val="accent4">
                    <a:lumMod val="75000"/>
                  </a:schemeClr>
                </a:solidFill>
                <a:latin typeface="+mj-lt"/>
              </a:rPr>
              <a:t>Most Patients</a:t>
            </a:r>
            <a:r>
              <a:rPr lang="en-US" sz="1100" dirty="0">
                <a:solidFill>
                  <a:schemeClr val="accent4">
                    <a:lumMod val="75000"/>
                  </a:schemeClr>
                </a:solidFill>
                <a:latin typeface="+mj-lt"/>
              </a:rPr>
              <a:t>: Pediatrics – 717 patients</a:t>
            </a:r>
          </a:p>
          <a:p>
            <a:pPr>
              <a:buFont typeface="Wingdings" panose="05000000000000000000" pitchFamily="2" charset="2"/>
              <a:buChar char="v"/>
            </a:pPr>
            <a:r>
              <a:rPr lang="en-US" sz="1100" b="1" dirty="0">
                <a:solidFill>
                  <a:schemeClr val="accent4">
                    <a:lumMod val="75000"/>
                  </a:schemeClr>
                </a:solidFill>
                <a:latin typeface="+mj-lt"/>
              </a:rPr>
              <a:t>Age Insights</a:t>
            </a:r>
            <a:r>
              <a:rPr lang="en-US" sz="1100" dirty="0">
                <a:solidFill>
                  <a:schemeClr val="accent4">
                    <a:lumMod val="75000"/>
                  </a:schemeClr>
                </a:solidFill>
                <a:latin typeface="+mj-lt"/>
              </a:rPr>
              <a:t>:</a:t>
            </a:r>
          </a:p>
          <a:p>
            <a:pPr marL="628650" lvl="1" indent="-171450">
              <a:buFont typeface="Wingdings" panose="05000000000000000000" pitchFamily="2" charset="2"/>
              <a:buChar char="v"/>
            </a:pPr>
            <a:r>
              <a:rPr lang="en-US" sz="1100" dirty="0">
                <a:solidFill>
                  <a:schemeClr val="accent4">
                    <a:lumMod val="75000"/>
                  </a:schemeClr>
                </a:solidFill>
                <a:latin typeface="+mj-lt"/>
              </a:rPr>
              <a:t>Peak age group: </a:t>
            </a:r>
            <a:r>
              <a:rPr lang="en-US" sz="1100" b="1" dirty="0">
                <a:solidFill>
                  <a:schemeClr val="accent4">
                    <a:lumMod val="75000"/>
                  </a:schemeClr>
                </a:solidFill>
                <a:latin typeface="+mj-lt"/>
              </a:rPr>
              <a:t>50 years</a:t>
            </a:r>
            <a:r>
              <a:rPr lang="en-US" sz="1100" dirty="0">
                <a:solidFill>
                  <a:schemeClr val="accent4">
                    <a:lumMod val="75000"/>
                  </a:schemeClr>
                </a:solidFill>
                <a:latin typeface="+mj-lt"/>
              </a:rPr>
              <a:t> – 948 patients</a:t>
            </a:r>
          </a:p>
          <a:p>
            <a:pPr>
              <a:buFont typeface="Wingdings" panose="05000000000000000000" pitchFamily="2" charset="2"/>
              <a:buChar char="v"/>
            </a:pPr>
            <a:r>
              <a:rPr lang="en-US" sz="1100" b="1" dirty="0">
                <a:solidFill>
                  <a:schemeClr val="accent4">
                    <a:lumMod val="75000"/>
                  </a:schemeClr>
                </a:solidFill>
                <a:latin typeface="+mj-lt"/>
              </a:rPr>
              <a:t>Patient Flow</a:t>
            </a:r>
            <a:r>
              <a:rPr lang="en-US" sz="1100" dirty="0">
                <a:solidFill>
                  <a:schemeClr val="accent4">
                    <a:lumMod val="75000"/>
                  </a:schemeClr>
                </a:solidFill>
                <a:latin typeface="+mj-lt"/>
              </a:rPr>
              <a:t>: Even distribution across </a:t>
            </a:r>
            <a:r>
              <a:rPr lang="en-US" sz="1100" b="1" dirty="0">
                <a:solidFill>
                  <a:schemeClr val="accent4">
                    <a:lumMod val="75000"/>
                  </a:schemeClr>
                </a:solidFill>
                <a:latin typeface="+mj-lt"/>
              </a:rPr>
              <a:t>Q1–Q4</a:t>
            </a:r>
            <a:endParaRPr lang="en-IN" sz="1100" dirty="0">
              <a:solidFill>
                <a:schemeClr val="accent4">
                  <a:lumMod val="75000"/>
                </a:schemeClr>
              </a:solidFill>
            </a:endParaRPr>
          </a:p>
        </p:txBody>
      </p:sp>
      <p:sp>
        <p:nvSpPr>
          <p:cNvPr id="2" name="Google Shape;86;p16">
            <a:extLst>
              <a:ext uri="{FF2B5EF4-FFF2-40B4-BE49-F238E27FC236}">
                <a16:creationId xmlns:a16="http://schemas.microsoft.com/office/drawing/2014/main" id="{16B3905B-EBD4-8735-84AB-5DEA3B6E343F}"/>
              </a:ext>
            </a:extLst>
          </p:cNvPr>
          <p:cNvSpPr txBox="1">
            <a:spLocks/>
          </p:cNvSpPr>
          <p:nvPr/>
        </p:nvSpPr>
        <p:spPr>
          <a:xfrm>
            <a:off x="230460" y="498089"/>
            <a:ext cx="8751056" cy="57986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buNone/>
            </a:pPr>
            <a:r>
              <a:rPr lang="en-IN" sz="1100" dirty="0">
                <a:solidFill>
                  <a:schemeClr val="accent4">
                    <a:lumMod val="75000"/>
                  </a:schemeClr>
                </a:solidFill>
                <a:latin typeface="+mn-lt"/>
              </a:rPr>
              <a:t>📊 Dataset Overview:</a:t>
            </a:r>
          </a:p>
          <a:p>
            <a:pPr marL="114300" indent="0">
              <a:buNone/>
            </a:pPr>
            <a:r>
              <a:rPr lang="en-US" sz="1100" dirty="0">
                <a:solidFill>
                  <a:schemeClr val="accent4">
                    <a:lumMod val="75000"/>
                  </a:schemeClr>
                </a:solidFill>
                <a:latin typeface="+mj-lt"/>
              </a:rPr>
              <a:t>This analysis is based on a dataset of 6,000 AI-generated patient records. It looks at patterns in patient demographics, diagnoses, departmental efficiency, and treatment costs, using simulated data.</a:t>
            </a:r>
          </a:p>
        </p:txBody>
      </p:sp>
      <p:sp>
        <p:nvSpPr>
          <p:cNvPr id="7" name="Google Shape;86;p16">
            <a:extLst>
              <a:ext uri="{FF2B5EF4-FFF2-40B4-BE49-F238E27FC236}">
                <a16:creationId xmlns:a16="http://schemas.microsoft.com/office/drawing/2014/main" id="{F5911183-8265-EAAC-3132-5C8C26963A00}"/>
              </a:ext>
            </a:extLst>
          </p:cNvPr>
          <p:cNvSpPr txBox="1">
            <a:spLocks/>
          </p:cNvSpPr>
          <p:nvPr/>
        </p:nvSpPr>
        <p:spPr>
          <a:xfrm>
            <a:off x="230460" y="1196898"/>
            <a:ext cx="4438184" cy="312977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lgn="just">
              <a:buNone/>
            </a:pPr>
            <a:r>
              <a:rPr lang="en-US" sz="1100" b="1" dirty="0">
                <a:solidFill>
                  <a:schemeClr val="accent4">
                    <a:lumMod val="75000"/>
                  </a:schemeClr>
                </a:solidFill>
                <a:latin typeface="+mj-lt"/>
              </a:rPr>
              <a:t>📊 Data Highlights</a:t>
            </a:r>
          </a:p>
          <a:p>
            <a:pPr algn="just">
              <a:buFont typeface="Wingdings" panose="05000000000000000000" pitchFamily="2" charset="2"/>
              <a:buChar char="v"/>
            </a:pPr>
            <a:r>
              <a:rPr lang="en-US" sz="1100" b="1" dirty="0">
                <a:solidFill>
                  <a:schemeClr val="accent4">
                    <a:lumMod val="75000"/>
                  </a:schemeClr>
                </a:solidFill>
                <a:latin typeface="+mj-lt"/>
              </a:rPr>
              <a:t>Total Patients</a:t>
            </a:r>
            <a:r>
              <a:rPr lang="en-US" sz="1100" dirty="0">
                <a:solidFill>
                  <a:schemeClr val="accent4">
                    <a:lumMod val="75000"/>
                  </a:schemeClr>
                </a:solidFill>
                <a:latin typeface="+mj-lt"/>
              </a:rPr>
              <a:t>: 6,000</a:t>
            </a:r>
          </a:p>
          <a:p>
            <a:pPr algn="just">
              <a:buFont typeface="Wingdings" panose="05000000000000000000" pitchFamily="2" charset="2"/>
              <a:buChar char="v"/>
            </a:pPr>
            <a:r>
              <a:rPr lang="en-US" sz="1100" b="1" dirty="0">
                <a:solidFill>
                  <a:schemeClr val="accent4">
                    <a:lumMod val="75000"/>
                  </a:schemeClr>
                </a:solidFill>
                <a:latin typeface="+mj-lt"/>
              </a:rPr>
              <a:t>Average Age</a:t>
            </a:r>
            <a:r>
              <a:rPr lang="en-US" sz="1100" dirty="0">
                <a:solidFill>
                  <a:schemeClr val="accent4">
                    <a:lumMod val="75000"/>
                  </a:schemeClr>
                </a:solidFill>
                <a:latin typeface="+mj-lt"/>
              </a:rPr>
              <a:t>: 49.81 years</a:t>
            </a:r>
          </a:p>
          <a:p>
            <a:pPr algn="just">
              <a:buFont typeface="Wingdings" panose="05000000000000000000" pitchFamily="2" charset="2"/>
              <a:buChar char="v"/>
            </a:pPr>
            <a:r>
              <a:rPr lang="en-US" sz="1100" b="1" dirty="0">
                <a:solidFill>
                  <a:schemeClr val="accent4">
                    <a:lumMod val="75000"/>
                  </a:schemeClr>
                </a:solidFill>
                <a:latin typeface="+mj-lt"/>
              </a:rPr>
              <a:t>Average Length of Stay</a:t>
            </a:r>
            <a:r>
              <a:rPr lang="en-US" sz="1100" dirty="0">
                <a:solidFill>
                  <a:schemeClr val="accent4">
                    <a:lumMod val="75000"/>
                  </a:schemeClr>
                </a:solidFill>
                <a:latin typeface="+mj-lt"/>
              </a:rPr>
              <a:t>: 63.41 days</a:t>
            </a:r>
          </a:p>
          <a:p>
            <a:pPr algn="just">
              <a:buFont typeface="Wingdings" panose="05000000000000000000" pitchFamily="2" charset="2"/>
              <a:buChar char="v"/>
            </a:pPr>
            <a:r>
              <a:rPr lang="en-US" sz="1100" b="1" dirty="0">
                <a:solidFill>
                  <a:schemeClr val="accent4">
                    <a:lumMod val="75000"/>
                  </a:schemeClr>
                </a:solidFill>
                <a:latin typeface="+mj-lt"/>
              </a:rPr>
              <a:t>Average Treatment Cost</a:t>
            </a:r>
            <a:r>
              <a:rPr lang="en-US" sz="1100" dirty="0">
                <a:solidFill>
                  <a:schemeClr val="accent4">
                    <a:lumMod val="75000"/>
                  </a:schemeClr>
                </a:solidFill>
                <a:latin typeface="+mj-lt"/>
              </a:rPr>
              <a:t>: </a:t>
            </a:r>
            <a:r>
              <a:rPr lang="en-US" sz="1100" b="1" dirty="0">
                <a:solidFill>
                  <a:schemeClr val="accent4">
                    <a:lumMod val="75000"/>
                  </a:schemeClr>
                </a:solidFill>
                <a:latin typeface="+mj-lt"/>
              </a:rPr>
              <a:t>$49,959</a:t>
            </a:r>
            <a:endParaRPr lang="en-US" sz="1100" dirty="0">
              <a:solidFill>
                <a:schemeClr val="accent4">
                  <a:lumMod val="75000"/>
                </a:schemeClr>
              </a:solidFill>
              <a:latin typeface="+mj-lt"/>
            </a:endParaRPr>
          </a:p>
          <a:p>
            <a:pPr algn="just">
              <a:buFont typeface="Wingdings" panose="05000000000000000000" pitchFamily="2" charset="2"/>
              <a:buChar char="v"/>
            </a:pPr>
            <a:r>
              <a:rPr lang="en-US" sz="1100" b="1" dirty="0">
                <a:solidFill>
                  <a:schemeClr val="accent4">
                    <a:lumMod val="75000"/>
                  </a:schemeClr>
                </a:solidFill>
                <a:latin typeface="+mj-lt"/>
              </a:rPr>
              <a:t>Gender Split</a:t>
            </a:r>
            <a:r>
              <a:rPr lang="en-US" sz="1100" dirty="0">
                <a:solidFill>
                  <a:schemeClr val="accent4">
                    <a:lumMod val="75000"/>
                  </a:schemeClr>
                </a:solidFill>
                <a:latin typeface="+mj-lt"/>
              </a:rPr>
              <a:t>:</a:t>
            </a:r>
          </a:p>
          <a:p>
            <a:pPr marL="628650" lvl="1" indent="-171450" algn="just">
              <a:buFont typeface="Wingdings" panose="05000000000000000000" pitchFamily="2" charset="2"/>
              <a:buChar char="v"/>
            </a:pPr>
            <a:r>
              <a:rPr lang="en-US" sz="1100" dirty="0">
                <a:solidFill>
                  <a:schemeClr val="accent4">
                    <a:lumMod val="75000"/>
                  </a:schemeClr>
                </a:solidFill>
                <a:latin typeface="+mj-lt"/>
              </a:rPr>
              <a:t>Male: 2,699</a:t>
            </a:r>
          </a:p>
          <a:p>
            <a:pPr marL="628650" lvl="1" indent="-171450" algn="just">
              <a:buFont typeface="Wingdings" panose="05000000000000000000" pitchFamily="2" charset="2"/>
              <a:buChar char="v"/>
            </a:pPr>
            <a:r>
              <a:rPr lang="en-US" sz="1100" dirty="0">
                <a:solidFill>
                  <a:schemeClr val="accent4">
                    <a:lumMod val="75000"/>
                  </a:schemeClr>
                </a:solidFill>
                <a:latin typeface="+mj-lt"/>
              </a:rPr>
              <a:t>Female: 2,692</a:t>
            </a:r>
          </a:p>
          <a:p>
            <a:pPr algn="just">
              <a:buFont typeface="Wingdings" panose="05000000000000000000" pitchFamily="2" charset="2"/>
              <a:buChar char="v"/>
            </a:pPr>
            <a:r>
              <a:rPr lang="en-US" sz="1100" b="1" dirty="0">
                <a:solidFill>
                  <a:schemeClr val="accent4">
                    <a:lumMod val="75000"/>
                  </a:schemeClr>
                </a:solidFill>
                <a:latin typeface="+mj-lt"/>
              </a:rPr>
              <a:t>Top Diagnoses</a:t>
            </a:r>
            <a:r>
              <a:rPr lang="en-US" sz="1100" dirty="0">
                <a:solidFill>
                  <a:schemeClr val="accent4">
                    <a:lumMod val="75000"/>
                  </a:schemeClr>
                </a:solidFill>
                <a:latin typeface="+mj-lt"/>
              </a:rPr>
              <a:t>:</a:t>
            </a:r>
          </a:p>
          <a:p>
            <a:pPr marL="628650" lvl="1" indent="-171450" algn="just">
              <a:buFont typeface="Wingdings" panose="05000000000000000000" pitchFamily="2" charset="2"/>
              <a:buChar char="v"/>
            </a:pPr>
            <a:r>
              <a:rPr lang="en-US" sz="1100" dirty="0">
                <a:solidFill>
                  <a:schemeClr val="accent4">
                    <a:lumMod val="75000"/>
                  </a:schemeClr>
                </a:solidFill>
                <a:latin typeface="+mj-lt"/>
              </a:rPr>
              <a:t>Diabetes – 1,036 cases</a:t>
            </a:r>
          </a:p>
          <a:p>
            <a:pPr marL="628650" lvl="1" indent="-171450" algn="just">
              <a:buFont typeface="Wingdings" panose="05000000000000000000" pitchFamily="2" charset="2"/>
              <a:buChar char="v"/>
            </a:pPr>
            <a:r>
              <a:rPr lang="en-US" sz="1100" dirty="0">
                <a:solidFill>
                  <a:schemeClr val="accent4">
                    <a:lumMod val="75000"/>
                  </a:schemeClr>
                </a:solidFill>
                <a:latin typeface="+mj-lt"/>
              </a:rPr>
              <a:t>Hypertension – 1,027 cases</a:t>
            </a:r>
          </a:p>
          <a:p>
            <a:pPr marL="628650" lvl="1" indent="-171450" algn="just">
              <a:buFont typeface="Wingdings" panose="05000000000000000000" pitchFamily="2" charset="2"/>
              <a:buChar char="v"/>
            </a:pPr>
            <a:r>
              <a:rPr lang="en-US" sz="1100" dirty="0">
                <a:solidFill>
                  <a:schemeClr val="accent4">
                    <a:lumMod val="75000"/>
                  </a:schemeClr>
                </a:solidFill>
                <a:latin typeface="+mj-lt"/>
              </a:rPr>
              <a:t>Chronic Kidney Disease – 1,003 cases</a:t>
            </a:r>
          </a:p>
          <a:p>
            <a:pPr marL="628650" lvl="1" indent="-171450" algn="just">
              <a:buFont typeface="Wingdings" panose="05000000000000000000" pitchFamily="2" charset="2"/>
              <a:buChar char="v"/>
            </a:pPr>
            <a:r>
              <a:rPr lang="en-US" sz="1100" dirty="0">
                <a:solidFill>
                  <a:schemeClr val="accent4">
                    <a:lumMod val="75000"/>
                  </a:schemeClr>
                </a:solidFill>
                <a:latin typeface="+mj-lt"/>
              </a:rPr>
              <a:t>Lung Cancer – 1,000 cases</a:t>
            </a:r>
          </a:p>
          <a:p>
            <a:pPr marL="628650" lvl="1" indent="-171450" algn="just">
              <a:buFont typeface="Wingdings" panose="05000000000000000000" pitchFamily="2" charset="2"/>
              <a:buChar char="v"/>
            </a:pPr>
            <a:r>
              <a:rPr lang="en-US" sz="1100" dirty="0">
                <a:solidFill>
                  <a:schemeClr val="accent4">
                    <a:lumMod val="75000"/>
                  </a:schemeClr>
                </a:solidFill>
                <a:latin typeface="+mj-lt"/>
              </a:rPr>
              <a:t>Heart Disease – 975 cases</a:t>
            </a:r>
          </a:p>
          <a:p>
            <a:pPr marL="628650" lvl="1" indent="-171450" algn="just">
              <a:buFont typeface="Wingdings" panose="05000000000000000000" pitchFamily="2" charset="2"/>
              <a:buChar char="v"/>
            </a:pPr>
            <a:r>
              <a:rPr lang="en-US" sz="1100" dirty="0">
                <a:solidFill>
                  <a:schemeClr val="accent4">
                    <a:lumMod val="75000"/>
                  </a:schemeClr>
                </a:solidFill>
                <a:latin typeface="+mj-lt"/>
              </a:rPr>
              <a:t>Asthma – 959 cases</a:t>
            </a:r>
          </a:p>
        </p:txBody>
      </p:sp>
      <p:sp>
        <p:nvSpPr>
          <p:cNvPr id="3" name="Google Shape;86;p16">
            <a:extLst>
              <a:ext uri="{FF2B5EF4-FFF2-40B4-BE49-F238E27FC236}">
                <a16:creationId xmlns:a16="http://schemas.microsoft.com/office/drawing/2014/main" id="{82AF1A85-B1FD-AF9E-39F1-F5BA1D843CB0}"/>
              </a:ext>
            </a:extLst>
          </p:cNvPr>
          <p:cNvSpPr txBox="1">
            <a:spLocks/>
          </p:cNvSpPr>
          <p:nvPr/>
        </p:nvSpPr>
        <p:spPr>
          <a:xfrm>
            <a:off x="311700" y="4326673"/>
            <a:ext cx="8822216" cy="66533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114300" indent="0" algn="just">
              <a:buNone/>
            </a:pPr>
            <a:r>
              <a:rPr lang="en-US" sz="1100" b="1" dirty="0">
                <a:solidFill>
                  <a:schemeClr val="accent4">
                    <a:lumMod val="75000"/>
                  </a:schemeClr>
                </a:solidFill>
                <a:latin typeface="+mj-lt"/>
              </a:rPr>
              <a:t>✅ Conclusion</a:t>
            </a:r>
          </a:p>
          <a:p>
            <a:pPr marL="114300" indent="0" algn="just">
              <a:buNone/>
            </a:pPr>
            <a:r>
              <a:rPr lang="en-US" sz="1100" dirty="0">
                <a:solidFill>
                  <a:schemeClr val="accent4">
                    <a:lumMod val="75000"/>
                  </a:schemeClr>
                </a:solidFill>
                <a:latin typeface="+mj-lt"/>
              </a:rPr>
              <a:t>The dashboard shows an equal number of male and female patients, many cases of chronic diseases, and heavy use of resources in General Medicine. To manage costs, management need to plan carefully, especially for departments and age groups with high patient numbers.</a:t>
            </a:r>
          </a:p>
        </p:txBody>
      </p:sp>
    </p:spTree>
    <p:extLst>
      <p:ext uri="{BB962C8B-B14F-4D97-AF65-F5344CB8AC3E}">
        <p14:creationId xmlns:p14="http://schemas.microsoft.com/office/powerpoint/2010/main" val="4096581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8E9105D2-72CB-6823-22C4-8709982453E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9D6537C-93B6-8AF5-2B12-C15BAFEDE5CA}"/>
              </a:ext>
            </a:extLst>
          </p:cNvPr>
          <p:cNvPicPr>
            <a:picLocks noChangeAspect="1"/>
          </p:cNvPicPr>
          <p:nvPr/>
        </p:nvPicPr>
        <p:blipFill>
          <a:blip r:embed="rId3"/>
          <a:stretch>
            <a:fillRect/>
          </a:stretch>
        </p:blipFill>
        <p:spPr>
          <a:xfrm>
            <a:off x="0" y="0"/>
            <a:ext cx="9144000" cy="4988311"/>
          </a:xfrm>
          <a:prstGeom prst="rect">
            <a:avLst/>
          </a:prstGeom>
        </p:spPr>
      </p:pic>
    </p:spTree>
    <p:extLst>
      <p:ext uri="{BB962C8B-B14F-4D97-AF65-F5344CB8AC3E}">
        <p14:creationId xmlns:p14="http://schemas.microsoft.com/office/powerpoint/2010/main" val="3079450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E4BD910F-8AF4-1877-2901-20188E7BE87E}"/>
            </a:ext>
          </a:extLst>
        </p:cNvPr>
        <p:cNvGrpSpPr/>
        <p:nvPr/>
      </p:nvGrpSpPr>
      <p:grpSpPr>
        <a:xfrm>
          <a:off x="0" y="0"/>
          <a:ext cx="0" cy="0"/>
          <a:chOff x="0" y="0"/>
          <a:chExt cx="0" cy="0"/>
        </a:xfrm>
      </p:grpSpPr>
      <p:sp>
        <p:nvSpPr>
          <p:cNvPr id="85" name="Google Shape;85;p16">
            <a:extLst>
              <a:ext uri="{FF2B5EF4-FFF2-40B4-BE49-F238E27FC236}">
                <a16:creationId xmlns:a16="http://schemas.microsoft.com/office/drawing/2014/main" id="{DA291190-1110-1F97-1AB9-14C96DC0E25D}"/>
              </a:ext>
            </a:extLst>
          </p:cNvPr>
          <p:cNvSpPr txBox="1">
            <a:spLocks noGrp="1"/>
          </p:cNvSpPr>
          <p:nvPr>
            <p:ph type="title"/>
          </p:nvPr>
        </p:nvSpPr>
        <p:spPr>
          <a:xfrm>
            <a:off x="311700" y="1672683"/>
            <a:ext cx="8520600" cy="109282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en-IN" sz="2800" dirty="0">
                <a:solidFill>
                  <a:schemeClr val="accent4">
                    <a:lumMod val="75000"/>
                  </a:schemeClr>
                </a:solidFill>
                <a:latin typeface="+mj-lt"/>
              </a:rPr>
              <a:t>Thank you.</a:t>
            </a:r>
            <a:endParaRPr sz="2800" dirty="0">
              <a:solidFill>
                <a:schemeClr val="accent4">
                  <a:lumMod val="75000"/>
                </a:schemeClr>
              </a:solidFill>
              <a:latin typeface="+mj-lt"/>
            </a:endParaRPr>
          </a:p>
        </p:txBody>
      </p:sp>
    </p:spTree>
    <p:extLst>
      <p:ext uri="{BB962C8B-B14F-4D97-AF65-F5344CB8AC3E}">
        <p14:creationId xmlns:p14="http://schemas.microsoft.com/office/powerpoint/2010/main" val="2144526407"/>
      </p:ext>
    </p:extLst>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13929</TotalTime>
  <Words>1216</Words>
  <Application>Microsoft Office PowerPoint</Application>
  <PresentationFormat>On-screen Show (16:9)</PresentationFormat>
  <Paragraphs>122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Wingdings</vt:lpstr>
      <vt:lpstr>PT Sans Narrow</vt:lpstr>
      <vt:lpstr>Arial</vt:lpstr>
      <vt:lpstr>Open Sans</vt:lpstr>
      <vt:lpstr>Tropic</vt:lpstr>
      <vt:lpstr>Healthcare Data Analysis Using Excel and Tableau</vt:lpstr>
      <vt:lpstr>Dataset Description </vt:lpstr>
      <vt:lpstr>Project Objective </vt:lpstr>
      <vt:lpstr>Gender-Based Patient Distribution  </vt:lpstr>
      <vt:lpstr>Top Departments by Patient Volume </vt:lpstr>
      <vt:lpstr>Diagnosis Category by Gender</vt:lpstr>
      <vt:lpstr>Age Distribution Across Departments</vt:lpstr>
      <vt:lpstr>Blood Group and Diagnosis Patterns</vt:lpstr>
      <vt:lpstr>HealthCare Data Insights – Patient Trends &amp; Outcomes</vt:lpstr>
      <vt:lpstr>PowerPoint Presentation</vt:lpstr>
      <vt:lpstr>Storytelling Summary &amp; Key Takeaways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Abu</dc:creator>
  <cp:lastModifiedBy>Abraham PonnuRaj</cp:lastModifiedBy>
  <cp:revision>7</cp:revision>
  <dcterms:modified xsi:type="dcterms:W3CDTF">2025-05-14T08:57:14Z</dcterms:modified>
</cp:coreProperties>
</file>